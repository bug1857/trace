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Opening line: 'TRACE is a working prototype — not a wireframe, not a pitch deck for an idea. Every number you'll see in this presentation was computed from real data uploaded to the live platform.'
Key framing: This is a Round 2 submission for the Indo-Swiss Joint Research Programme. We are solving a problem that sits at the intersection of process intelligence and climate compliance — two fields that have never been unified in a single, accessible tool.
Stats to anchor:
- 800 real supply chain cases processed
- 368 policy violations detected and flagged with carbon delta
- 40/40 backend tests passing — zero regressions
- BRSR compliance report generated with SHA-256 integrity hash
Tone: Confident. Do not apologize for being students. The platform speaks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 UNDERSTANDING
Opening hook: 'Most enterprises can tell you how much they emitted last year. None can tell you which shipment, which supplier, which activity caused it — and whether it violated their own policy.'
Key points to hit:
1. Process visibility gap — ERP logs exist but are never analyzed against intended process models. Violations accumulate for months before discovery.
2. Manual carbon accounting — Scope 3 is the hardest and largest category. It accounts for up to 80% of a company's footprint but is estimated, not measured, quarterly on spreadsheets.
3. Regulatory pressure is real — BRSR is already mandatory for top-1000 NSE/BSE listed companies from FY2023. Most are still using consultants to generate reports manually.
4. Supplier opacity — procurement teams have no data-backed way to rank or replace high-emission suppliers.
Differentiator to plant early: 'No existing tool — not ProM, not Celonis, not SAP Sustainability — combines process mining with activity-level carbon attribution and generates regulator-ready BRSR reports automatically. TRACE does all three.'
$2.3T stat source: McKinsey Global Institute supply chain inefficiency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SOLUTION ARCHITECTURE
Key message: 'One CSV upload triggers all eight engines in parallel. No manual steps between upload and report.'
Walk the pipeline left to right:
- CSV Upload → any schema, any column naming convention
- Column Mapper → fuzzy alias matching detects case_id, activity, timestamp, supplier, etc. with confidence scoring. Manual override UI if it misses.
- Process Mine → OCEL 2.0 object-centric event log parsing, DFG extraction, 800 cases, 10 activities
- Carbon Calc → Scope 3 attribution per activity using configurable emission factors
- Conformance → rule-based engine flags Air Freight, Incineration, Landfill against mandated alternatives
- Forecast → 4-baseline benchmarking, LinearTrend auto-selected as best fit
- BRSR/ESG → full report generation with SHA-256 integrity hash
Tech stack points if asked:
- Frontend: Next.js 16, React 19, TypeScript strict mode, Tailwind v4, shadcn/ui, React Flow for process graphs, Recharts for analytics
- Backend: FastAPI, Python 3.11, SQLAlchemy ORM, pandas vectorized operations, custom OCEL 2.0 parser
- Database: PostgreSQL in production, SQLite for local dev. 6 tables with real cascade deletes. Schema auto-migrates on startup.
- AI Copilot: Ollama running locally. Zero cloud dependency. Data never leaves the machine — critical for enterprise adoption.
Multi-tenancy point: 'Organization → Project → Workspace → AnalysisSnapshot is not a UI trick. It is enforced at the SQL level with cascade deletes. Every workspace independently stores its own analysis snapshot.'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TECHNICAL APPROACH: FORECASTING ENGINE
This slide shows the live /forecasting page with real computed numbers — not illustrative figures.
Explain the methodology:
'The engine automatically splits historical carbon ledger entries into a training set and a 3-month holdout. Four standard baselines are benchmarked simultaneously. The one with the lowest MAE is auto-selected as the Best Fit Model and refit on the full dataset to generate the next-month prediction.'
Walk the four baselines:
1. Naive (MAE 133.9 kg CO₂e) — last observed value. Sanity check. If nothing beats this, the data has no structure.
2. MovingAverage3 (MAE 127.8) — 3-month rolling average. Smooths noise but lags trends.
3. LinearTrend (MAE 126.2) — OLS regression on time index. Winner on this dataset. Lowest MAE, auto-selected.
4. SeasonalNaive (MAE 293.4) — uses same period from previous year. Worst performer here. Correctly flagged.
Key design decisions to highlight if asked:
- MAE chosen over RMSE because ops managers can interpret 'we were off by 126 kg' — not a squared abstract error
- Train/holdout split is strict — no data leakage, no look-ahead bias
- Next-month prediction: 244 kg CO₂e, generated from LinearTrend refit on all 10 months of history
Anticipated question: 'Why not ARIMA or Prophet?' Answer: 'Those are Phase 3. We deliberately started with interpretable baselines so the model selection logic is auditable and explainable to compliance teams — not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PROTOTYPE DESIGN
Critical point to open with: 'Every screenshot on this slide is from the live platform. There are no mockups in this deck. If you want to verify, the demo dataset and deployment links are on the closing slide.'
Walk the four screenshots:
TOP LEFT — Landing page:
Cinematic hero with 'Supply Chain Audits That Actually Compute.' The entry point. Upload CSV here, everything downstream fires automatically. Three feature bullets: Process Mining, Carbon Intelligence, ESG Reporting.
TOP RIGHT — OCEL 2.0 Process Graph:
800 cases, 10 activities, 4,232 events. React Flow renders the directed flow graph. Column mapping completed automatically from the demo CSV. Activities shown with frequency and duration — Order Received through Landfill Disposal.
BOTTOM LEFT — Conformance Audits:
368 violations detected. 428.4 kg CO₂e excess emissions — that is the carbon cost of non-compliance. 140 critical violations (Air Freight Dispatch instead of mandatory rail freight). Table sortable by severity, category, carbon delta. Each violation has a full audit record.
BOTTOM RIGHT — Violation Audit Record modal:
CASE-0003. Air Freight Dispatch. CRITICAL. +2.23 kg CO₂. The modal explains the policy breach in plain language — 'Air Freight Dispatch was used instead of the mandated lower-carbon alternative rail freight. This bypass violates regional shipping/logistics policy and results in excess 2.23 kg of CO₂ emissions.' Acknowledge &amp; Close triggers the audit log entry.
If asked about other pages: Dashboard with KPI strip and trend charts, Executive summary, Carbon Budget, Carbon Fitness per case, Supplier Fitness rankings, ESG Report, BRSR Report, Green Routes, Forecasting, AI Copilot, Simulation, Sustainability Conf., Audit Logs,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FEASIBILITY ANALYSIS
Frame this slide strongly: 'We did not put a single claim on this slide without being able to verify it independently. Every row is backed by either an automated test or a manual derivation that we can walk through right now.'
Row by row if asked:
1. Column auto-mapping — upload trace_demo_dataset.csv (available in the repo). Headers are intentionally non-standard. The column mapper detects case_id, activity, timestamp, supplier, water, electricity, cost with confidence scores. Try renaming a column — override UI activates.
2. 368 violations — this number is regression-locked. conformance.py has a test that asserts exactly 368 violations on the demo dataset. If anyone modifies the rule engine and this number changes, the test fails immediately. It is not an estimate.
3. LinearTrend best baseline — MAE figures are hand-derived. Naive: 133.9, MA3: 127.8, LinearTrend: 126.2, SeasonalNaive: 293.4. The holdout split is the last 3 months of 13 months of data. These numbers are reproducible from the uploaded CSV.
4. SHA-256 report integrity — brsr_report.py serializes the full analysis JSON, hashes it with hashlib.sha256(), and embeds the hash in the generated report header. Any change to any figure in the report changes the hash. This makes the BRSR report tamper-evident — critical for regulatory submission.
5. SQL-backed multi-tenancy — not session storage, not localStorage. 6 real SQL tables. Restart the backend server, reload the page — all organizations, projects, workspaces, and analysis snapshots are intact.
6. Real Ollama LLM — open browser DevTools, go to Network tab, send a message to the AI Copilot. You will see the request hit localhost:11434/api/chat. Zero traffic to any external API. Model name is configurable in Settings.
Close with: '40 out of 40 backend pytest cases pass. We have zero tolerance for placeholder data in a compliance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EXPECTED IMPACT
Critical framing: 'Every metric on this slide came out of the actual BRSR report generated by TRACE on the demo dataset — not projected, not estimated for the pitch.'
Walk the four top metrics:
- 57.9% process compliance — 337 of 800 cases violated at least one policy rule. This means 42% of supply chain operations are non-compliant. That is what TRACE surfaces automatically.
- 88.4% carbon fitness score — average efficiency of actual emissions vs ideal emissions across all cases. The gap represents where carbon reduction is possible.
- 73.2% ESG overall score — synthesis of process compliance, carbon fitness, and supplier performance across 5 monitored suppliers.
- 3,931.6 kg CO₂e total — actual Scope 3 emissions attributed to the 800-case dataset. Status: WITHIN_LIMIT against a 130,000 kg annual budget. Budget tracking is configurable.
Impact quadrants:
OPERATIONAL — 'Before TRACE, an ops manager waits until month-end to see emissions data. With TRACE, the next-month forecast is available before the month begins. LinearTrend predicts 244 kg CO₂e for the upcoming month — operations can act on that now.'
REGULATORY — 'BRSR report generation is fully automated. The traceability matrix on Slide D of the report maps every metric back to its source module and reference field. Audit trail is built-in, not added after the fact.'
FINANCIAL — 'The 368 violations represent 428.4 kg excess CO₂e. Air Freight to Rail substitution alone reduces per-case carbon delta by 85%. Procurement teams can rank suppliers by Carbon Fitness Score and replace the worst offenders with data, not gut feel.'
STRATEGIC — 'Emission factors are not hardcoded. Customers upload their own. Compliance rulesets are uploadable via CSV. This is a configurable intelligence layer, not a fixed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FUTURE SCOPE
Open with: 'Everything in the NOW column is already shipped. The roadmap is not aspirational — it is a natural extension of a production-grade foundation. We are not proposing to build the core; we already built it.'
NOW — Working Prototype (already delivered):
14 live pages. 8 analytical engines. 40/40 tests. BRSR + ESG reports with SHA-256 hash. Local Ollama LLM copilot. Multi-tenant SQL hierarchy. Three UI themes. Deployed on Vercel + Render.
PHASE 2 — Production Hardening (Q3 2026):
This is pure engineering, not new features. SQLite → PostgreSQL migration path is already designed — the ORM layer is database-agnostic. JWT auth is the next critical security layer. Docker containerisation makes deployment org-independent.
PHASE 3 — ML Forecasting Upgrade (Q4 2026):
ARIMA and Prophet slot directly into the existing BaselineForecaster interface — the 4-baseline architecture was designed to be extensible. Anomaly detection on emissions spikes is a natural addition to the carbon budget module.
PHASE 4 — Enterprise Integration (2027):
SAP ERP connector replaces CSV upload with live event stream ingestion — Kafka or webhook. This is the path to real-time conformance monitoring. GRI/CDP support expands the regulatory coverage beyond BRSR to global standards.
If asked about commercialisation: 'The multi-tenant architecture is already SaaS-ready. Phase 2 adds the auth and deployment hardening needed for commercial deployment. The Indo-Swiss research collaboration is the academic foundation — the product roadmap is enterprise-grade.'
Anticipated question: 'Why not build Phase 3 first?' Answer: 'Interpretable baselines first. Compliance teams need to explain their forecasts to auditors. LinearTrend is explainable. ARIMA is not — yet. We earn the right to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CLOSING
Close with conviction: 'TRACE is not a prototype of an idea. It is a working platform. Every number on every page was computed — not estimated, not approximated, not inserted for the pitch.'
Demo offer: 'We have the demo dataset ready. If you want to see the platform live — upload trace_demo_dataset.csv and you will see 368 violations, 428.4 kg excess CO₂, the BRSR report with its SHA-256 hash, and the LinearTrend forecast of 244 kg CO₂e for next month — all generated in under 5 seconds.'
Links to give out:
- GitHub: github.com/bug1857/TRACE — full source, 40/40 tests visible in CI
- Frontend: trace-app.vercel.app
- Backend API: trace-backend.onrender.com
Final stat to leave with judges:
'Zero dummy numbers. That is the one metric that differentiates this submission. Every figure came from real computation on real data. That is what compliance-grade software demands — and that is what TRACE delivers.'
If asked about the team: Rudra Pratap Singh led architecture, backend, and frontend development. Swastik Anurag Vyas and Divayom Sengar contributed to research framing and validation. This was built within the Indo-Swiss Joint Research Programme at Manipal University Jaipur.
If asked about next steps: 'Phase 2 production hardening begins immediately after Round 2. PostgreSQL migration, JWT auth, Docker. The foundation is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5303520" cy="5143500"/>
          </a:xfrm>
          <a:prstGeom prst="rect">
            <a:avLst/>
          </a:prstGeom>
          <a:solidFill>
            <a:srgbClr val="101010"/>
          </a:solidFill>
          <a:ln w="12700">
            <a:solidFill>
              <a:srgbClr val="000000"/>
            </a:solidFill>
            <a:prstDash val="solid"/>
          </a:ln>
        </p:spPr>
      </p:sp>
      <p:sp>
        <p:nvSpPr>
          <p:cNvPr id="3" name="Text 1"/>
          <p:cNvSpPr/>
          <p:nvPr/>
        </p:nvSpPr>
        <p:spPr>
          <a:xfrm>
            <a:off x="457200" y="457200"/>
            <a:ext cx="3200400" cy="475488"/>
          </a:xfrm>
          <a:prstGeom prst="rect">
            <a:avLst/>
          </a:prstGeom>
          <a:noFill/>
          <a:ln/>
        </p:spPr>
        <p:txBody>
          <a:bodyPr wrap="square" lIns="0" tIns="0" rIns="0" bIns="0" rtlCol="0" anchor="ctr"/>
          <a:lstStyle/>
          <a:p>
            <a:pPr algn="l" indent="0" marL="0">
              <a:buNone/>
            </a:pPr>
            <a:r>
              <a:rPr lang="en-US" sz="2800" b="1" dirty="0">
                <a:solidFill>
                  <a:srgbClr val="E8E8E8"/>
                </a:solidFill>
                <a:latin typeface="Courier New" pitchFamily="34" charset="0"/>
                <a:ea typeface="Courier New" pitchFamily="34" charset="-122"/>
                <a:cs typeface="Courier New" pitchFamily="34" charset="-120"/>
              </a:rPr>
              <a:t>TRACE.</a:t>
            </a:r>
            <a:endParaRPr lang="en-US" sz="2800" dirty="0"/>
          </a:p>
        </p:txBody>
      </p:sp>
      <p:sp>
        <p:nvSpPr>
          <p:cNvPr id="4" name="Text 2"/>
          <p:cNvSpPr/>
          <p:nvPr/>
        </p:nvSpPr>
        <p:spPr>
          <a:xfrm>
            <a:off x="2468880" y="530352"/>
            <a:ext cx="640080" cy="256032"/>
          </a:xfrm>
          <a:prstGeom prst="rect">
            <a:avLst/>
          </a:prstGeom>
          <a:noFill/>
          <a:ln/>
        </p:spPr>
        <p:txBody>
          <a:bodyPr wrap="square" lIns="0" tIns="0" rIns="0" bIns="0" rtlCol="0" anchor="ctr"/>
          <a:lstStyle/>
          <a:p>
            <a:pPr algn="l" indent="0" marL="0">
              <a:buNone/>
            </a:pPr>
            <a:r>
              <a:rPr lang="en-US" sz="900" dirty="0">
                <a:solidFill>
                  <a:srgbClr val="5EADA0"/>
                </a:solidFill>
                <a:latin typeface="Courier New" pitchFamily="34" charset="0"/>
                <a:ea typeface="Courier New" pitchFamily="34" charset="-122"/>
                <a:cs typeface="Courier New" pitchFamily="34" charset="-120"/>
              </a:rPr>
              <a:t>v2.0</a:t>
            </a:r>
            <a:endParaRPr lang="en-US" sz="900" dirty="0"/>
          </a:p>
        </p:txBody>
      </p:sp>
      <p:sp>
        <p:nvSpPr>
          <p:cNvPr id="5" name="Text 3"/>
          <p:cNvSpPr/>
          <p:nvPr/>
        </p:nvSpPr>
        <p:spPr>
          <a:xfrm>
            <a:off x="457200" y="1024128"/>
            <a:ext cx="4572000" cy="1828800"/>
          </a:xfrm>
          <a:prstGeom prst="rect">
            <a:avLst/>
          </a:prstGeom>
          <a:noFill/>
          <a:ln/>
        </p:spPr>
        <p:txBody>
          <a:bodyPr wrap="square" lIns="0" tIns="0" rIns="0" bIns="0" rtlCol="0" anchor="t"/>
          <a:lstStyle/>
          <a:p>
            <a:pPr indent="0" marL="0">
              <a:buNone/>
            </a:pPr>
            <a:r>
              <a:rPr lang="en-US" sz="2800" b="1" dirty="0">
                <a:solidFill>
                  <a:srgbClr val="E8E8E8"/>
                </a:solidFill>
                <a:latin typeface="Calibri" pitchFamily="34" charset="0"/>
                <a:ea typeface="Calibri" pitchFamily="34" charset="-122"/>
                <a:cs typeface="Calibri" pitchFamily="34" charset="-120"/>
              </a:rPr>
              <a:t>Enterprise Process Mining
</a:t>
            </a:r>
            <a:pPr indent="0" marL="0">
              <a:buNone/>
            </a:pPr>
            <a:r>
              <a:rPr lang="en-US" sz="2800" b="1" dirty="0">
                <a:solidFill>
                  <a:srgbClr val="5EADA0"/>
                </a:solidFill>
                <a:latin typeface="Calibri" pitchFamily="34" charset="0"/>
                <a:ea typeface="Calibri" pitchFamily="34" charset="-122"/>
                <a:cs typeface="Calibri" pitchFamily="34" charset="-120"/>
              </a:rPr>
              <a:t>&amp; ESG Intelligence
</a:t>
            </a:r>
            <a:pPr indent="0" marL="0">
              <a:buNone/>
            </a:pPr>
            <a:r>
              <a:rPr lang="en-US" sz="2800" b="1" dirty="0">
                <a:solidFill>
                  <a:srgbClr val="E8E8E8"/>
                </a:solidFill>
                <a:latin typeface="Calibri" pitchFamily="34" charset="0"/>
                <a:ea typeface="Calibri" pitchFamily="34" charset="-122"/>
                <a:cs typeface="Calibri" pitchFamily="34" charset="-120"/>
              </a:rPr>
              <a:t>Platform</a:t>
            </a:r>
            <a:endParaRPr lang="en-US" sz="2800" dirty="0"/>
          </a:p>
        </p:txBody>
      </p:sp>
      <p:sp>
        <p:nvSpPr>
          <p:cNvPr id="6" name="Text 4"/>
          <p:cNvSpPr/>
          <p:nvPr/>
        </p:nvSpPr>
        <p:spPr>
          <a:xfrm>
            <a:off x="457200" y="2816352"/>
            <a:ext cx="4572000" cy="256032"/>
          </a:xfrm>
          <a:prstGeom prst="rect">
            <a:avLst/>
          </a:prstGeom>
          <a:noFill/>
          <a:ln/>
        </p:spPr>
        <p:txBody>
          <a:bodyPr wrap="square" lIns="0" tIns="0" rIns="0" bIns="0" rtlCol="0" anchor="ctr"/>
          <a:lstStyle/>
          <a:p>
            <a:pPr algn="l" indent="0" marL="0">
              <a:buNone/>
            </a:pPr>
            <a:r>
              <a:rPr lang="en-US" sz="1100" i="1" dirty="0">
                <a:solidFill>
                  <a:srgbClr val="636363"/>
                </a:solidFill>
                <a:latin typeface="Calibri" pitchFamily="34" charset="0"/>
                <a:ea typeface="Calibri" pitchFamily="34" charset="-122"/>
                <a:cs typeface="Calibri" pitchFamily="34" charset="-120"/>
              </a:rPr>
              <a:t>Supply chain audits that actually compute.</a:t>
            </a:r>
            <a:endParaRPr lang="en-US" sz="1100" dirty="0"/>
          </a:p>
        </p:txBody>
      </p:sp>
      <p:sp>
        <p:nvSpPr>
          <p:cNvPr id="7" name="Shape 5"/>
          <p:cNvSpPr/>
          <p:nvPr/>
        </p:nvSpPr>
        <p:spPr>
          <a:xfrm>
            <a:off x="457200" y="3163824"/>
            <a:ext cx="3200400" cy="0"/>
          </a:xfrm>
          <a:prstGeom prst="line">
            <a:avLst/>
          </a:prstGeom>
          <a:noFill/>
          <a:ln w="10160">
            <a:solidFill>
              <a:srgbClr val="3D8A7A"/>
            </a:solidFill>
            <a:prstDash val="solid"/>
          </a:ln>
        </p:spPr>
      </p:sp>
      <p:sp>
        <p:nvSpPr>
          <p:cNvPr id="8" name="Text 6"/>
          <p:cNvSpPr/>
          <p:nvPr/>
        </p:nvSpPr>
        <p:spPr>
          <a:xfrm>
            <a:off x="457200" y="3337560"/>
            <a:ext cx="4572000" cy="182880"/>
          </a:xfrm>
          <a:prstGeom prst="rect">
            <a:avLst/>
          </a:prstGeom>
          <a:noFill/>
          <a:ln/>
        </p:spPr>
        <p:txBody>
          <a:bodyPr wrap="square" lIns="0" tIns="0" rIns="0" bIns="0" rtlCol="0" anchor="ctr"/>
          <a:lstStyle/>
          <a:p>
            <a:pPr algn="l" indent="0" marL="0">
              <a:buNone/>
            </a:pPr>
            <a:r>
              <a:rPr lang="en-US" sz="750" spc="150" kern="0" dirty="0">
                <a:solidFill>
                  <a:srgbClr val="3A3A3A"/>
                </a:solidFill>
                <a:latin typeface="Courier New" pitchFamily="34" charset="0"/>
                <a:ea typeface="Courier New" pitchFamily="34" charset="-122"/>
                <a:cs typeface="Courier New" pitchFamily="34" charset="-120"/>
              </a:rPr>
              <a:t>ROUND 2  ·  DETAILED SOLUTION &amp; PROTOTYPE</a:t>
            </a:r>
            <a:endParaRPr lang="en-US" sz="750" dirty="0"/>
          </a:p>
        </p:txBody>
      </p:sp>
      <p:sp>
        <p:nvSpPr>
          <p:cNvPr id="9" name="Text 7"/>
          <p:cNvSpPr/>
          <p:nvPr/>
        </p:nvSpPr>
        <p:spPr>
          <a:xfrm>
            <a:off x="457200" y="3566160"/>
            <a:ext cx="4572000" cy="201168"/>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Indo-Swiss Joint Research Programme — MUJ</a:t>
            </a:r>
            <a:endParaRPr lang="en-US" sz="900" dirty="0"/>
          </a:p>
        </p:txBody>
      </p:sp>
      <p:sp>
        <p:nvSpPr>
          <p:cNvPr id="10" name="Text 8"/>
          <p:cNvSpPr/>
          <p:nvPr/>
        </p:nvSpPr>
        <p:spPr>
          <a:xfrm>
            <a:off x="457200" y="3840480"/>
            <a:ext cx="4846320" cy="201168"/>
          </a:xfrm>
          <a:prstGeom prst="rect">
            <a:avLst/>
          </a:prstGeom>
          <a:noFill/>
          <a:ln/>
        </p:spPr>
        <p:txBody>
          <a:bodyPr wrap="square" lIns="0" tIns="0" rIns="0" bIns="0" rtlCol="0" anchor="ctr"/>
          <a:lstStyle/>
          <a:p>
            <a:pPr algn="l" indent="0" marL="0">
              <a:buNone/>
            </a:pPr>
            <a:r>
              <a:rPr lang="en-US" sz="900" dirty="0">
                <a:solidFill>
                  <a:srgbClr val="C8C8C8"/>
                </a:solidFill>
                <a:latin typeface="Calibri" pitchFamily="34" charset="0"/>
                <a:ea typeface="Calibri" pitchFamily="34" charset="-122"/>
                <a:cs typeface="Calibri" pitchFamily="34" charset="-120"/>
              </a:rPr>
              <a:t>Rudra Pratap Singh  ·  Swastik Anurag Vyas  ·  Divayom Sengar</a:t>
            </a:r>
            <a:endParaRPr lang="en-US" sz="900" dirty="0"/>
          </a:p>
        </p:txBody>
      </p:sp>
      <p:sp>
        <p:nvSpPr>
          <p:cNvPr id="11" name="Text 9"/>
          <p:cNvSpPr/>
          <p:nvPr/>
        </p:nvSpPr>
        <p:spPr>
          <a:xfrm>
            <a:off x="457200" y="4069080"/>
            <a:ext cx="4754880" cy="182880"/>
          </a:xfrm>
          <a:prstGeom prst="rect">
            <a:avLst/>
          </a:prstGeom>
          <a:noFill/>
          <a:ln/>
        </p:spPr>
        <p:txBody>
          <a:bodyPr wrap="square" lIns="0" tIns="0" rIns="0" bIns="0" rtlCol="0" anchor="ctr"/>
          <a:lstStyle/>
          <a:p>
            <a:pPr algn="l" indent="0" marL="0">
              <a:buNone/>
            </a:pPr>
            <a:r>
              <a:rPr lang="en-US" sz="850" dirty="0">
                <a:solidFill>
                  <a:srgbClr val="636363"/>
                </a:solidFill>
                <a:latin typeface="Courier New" pitchFamily="34" charset="0"/>
                <a:ea typeface="Courier New" pitchFamily="34" charset="-122"/>
                <a:cs typeface="Courier New" pitchFamily="34" charset="-120"/>
              </a:rPr>
              <a:t>Next.js 16  ·  FastAPI  ·  PostgreSQL  ·  Local Ollama LLM</a:t>
            </a:r>
            <a:endParaRPr lang="en-US" sz="850" dirty="0"/>
          </a:p>
        </p:txBody>
      </p:sp>
      <p:sp>
        <p:nvSpPr>
          <p:cNvPr id="12" name="Shape 10"/>
          <p:cNvSpPr/>
          <p:nvPr/>
        </p:nvSpPr>
        <p:spPr>
          <a:xfrm>
            <a:off x="5577840" y="411480"/>
            <a:ext cx="3200400" cy="960120"/>
          </a:xfrm>
          <a:prstGeom prst="roundRect">
            <a:avLst>
              <a:gd name="adj" fmla="val 5714"/>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3" name="Text 11"/>
          <p:cNvSpPr/>
          <p:nvPr/>
        </p:nvSpPr>
        <p:spPr>
          <a:xfrm>
            <a:off x="5760720" y="484632"/>
            <a:ext cx="2834640" cy="475488"/>
          </a:xfrm>
          <a:prstGeom prst="rect">
            <a:avLst/>
          </a:prstGeom>
          <a:noFill/>
          <a:ln/>
        </p:spPr>
        <p:txBody>
          <a:bodyPr wrap="square" lIns="0" tIns="0" rIns="0" bIns="0" rtlCol="0" anchor="ctr"/>
          <a:lstStyle/>
          <a:p>
            <a:pPr algn="l" indent="0" marL="0">
              <a:buNone/>
            </a:pPr>
            <a:r>
              <a:rPr lang="en-US" sz="2400" b="1" dirty="0">
                <a:solidFill>
                  <a:srgbClr val="5EADA0"/>
                </a:solidFill>
                <a:latin typeface="Calibri" pitchFamily="34" charset="0"/>
                <a:ea typeface="Calibri" pitchFamily="34" charset="-122"/>
                <a:cs typeface="Calibri" pitchFamily="34" charset="-120"/>
              </a:rPr>
              <a:t>800</a:t>
            </a:r>
            <a:endParaRPr lang="en-US" sz="2400" dirty="0"/>
          </a:p>
        </p:txBody>
      </p:sp>
      <p:sp>
        <p:nvSpPr>
          <p:cNvPr id="14" name="Text 12"/>
          <p:cNvSpPr/>
          <p:nvPr/>
        </p:nvSpPr>
        <p:spPr>
          <a:xfrm>
            <a:off x="5760720" y="978408"/>
            <a:ext cx="2834640" cy="219456"/>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Cases Processed</a:t>
            </a:r>
            <a:endParaRPr lang="en-US" sz="900" dirty="0"/>
          </a:p>
        </p:txBody>
      </p:sp>
      <p:sp>
        <p:nvSpPr>
          <p:cNvPr id="15" name="Shape 13"/>
          <p:cNvSpPr/>
          <p:nvPr/>
        </p:nvSpPr>
        <p:spPr>
          <a:xfrm>
            <a:off x="5577840" y="1527048"/>
            <a:ext cx="3200400" cy="960120"/>
          </a:xfrm>
          <a:prstGeom prst="roundRect">
            <a:avLst>
              <a:gd name="adj" fmla="val 5714"/>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6" name="Text 14"/>
          <p:cNvSpPr/>
          <p:nvPr/>
        </p:nvSpPr>
        <p:spPr>
          <a:xfrm>
            <a:off x="5760720" y="1600200"/>
            <a:ext cx="2834640" cy="475488"/>
          </a:xfrm>
          <a:prstGeom prst="rect">
            <a:avLst/>
          </a:prstGeom>
          <a:noFill/>
          <a:ln/>
        </p:spPr>
        <p:txBody>
          <a:bodyPr wrap="square" lIns="0" tIns="0" rIns="0" bIns="0" rtlCol="0" anchor="ctr"/>
          <a:lstStyle/>
          <a:p>
            <a:pPr algn="l" indent="0" marL="0">
              <a:buNone/>
            </a:pPr>
            <a:r>
              <a:rPr lang="en-US" sz="2400" b="1" dirty="0">
                <a:solidFill>
                  <a:srgbClr val="5EADA0"/>
                </a:solidFill>
                <a:latin typeface="Calibri" pitchFamily="34" charset="0"/>
                <a:ea typeface="Calibri" pitchFamily="34" charset="-122"/>
                <a:cs typeface="Calibri" pitchFamily="34" charset="-120"/>
              </a:rPr>
              <a:t>368</a:t>
            </a:r>
            <a:endParaRPr lang="en-US" sz="2400" dirty="0"/>
          </a:p>
        </p:txBody>
      </p:sp>
      <p:sp>
        <p:nvSpPr>
          <p:cNvPr id="17" name="Text 15"/>
          <p:cNvSpPr/>
          <p:nvPr/>
        </p:nvSpPr>
        <p:spPr>
          <a:xfrm>
            <a:off x="5760720" y="2093976"/>
            <a:ext cx="2834640" cy="219456"/>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Violations Detected</a:t>
            </a:r>
            <a:endParaRPr lang="en-US" sz="900" dirty="0"/>
          </a:p>
        </p:txBody>
      </p:sp>
      <p:sp>
        <p:nvSpPr>
          <p:cNvPr id="18" name="Shape 16"/>
          <p:cNvSpPr/>
          <p:nvPr/>
        </p:nvSpPr>
        <p:spPr>
          <a:xfrm>
            <a:off x="5577840" y="2642616"/>
            <a:ext cx="3200400" cy="960120"/>
          </a:xfrm>
          <a:prstGeom prst="roundRect">
            <a:avLst>
              <a:gd name="adj" fmla="val 5714"/>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9" name="Text 17"/>
          <p:cNvSpPr/>
          <p:nvPr/>
        </p:nvSpPr>
        <p:spPr>
          <a:xfrm>
            <a:off x="5760720" y="2715768"/>
            <a:ext cx="2834640" cy="475488"/>
          </a:xfrm>
          <a:prstGeom prst="rect">
            <a:avLst/>
          </a:prstGeom>
          <a:noFill/>
          <a:ln/>
        </p:spPr>
        <p:txBody>
          <a:bodyPr wrap="square" lIns="0" tIns="0" rIns="0" bIns="0" rtlCol="0" anchor="ctr"/>
          <a:lstStyle/>
          <a:p>
            <a:pPr algn="l" indent="0" marL="0">
              <a:buNone/>
            </a:pPr>
            <a:r>
              <a:rPr lang="en-US" sz="2400" b="1" dirty="0">
                <a:solidFill>
                  <a:srgbClr val="5EADA0"/>
                </a:solidFill>
                <a:latin typeface="Calibri" pitchFamily="34" charset="0"/>
                <a:ea typeface="Calibri" pitchFamily="34" charset="-122"/>
                <a:cs typeface="Calibri" pitchFamily="34" charset="-120"/>
              </a:rPr>
              <a:t>40/40</a:t>
            </a:r>
            <a:endParaRPr lang="en-US" sz="2400" dirty="0"/>
          </a:p>
        </p:txBody>
      </p:sp>
      <p:sp>
        <p:nvSpPr>
          <p:cNvPr id="20" name="Text 18"/>
          <p:cNvSpPr/>
          <p:nvPr/>
        </p:nvSpPr>
        <p:spPr>
          <a:xfrm>
            <a:off x="5760720" y="3209544"/>
            <a:ext cx="2834640" cy="219456"/>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Tests Passing</a:t>
            </a:r>
            <a:endParaRPr lang="en-US" sz="900" dirty="0"/>
          </a:p>
        </p:txBody>
      </p:sp>
      <p:sp>
        <p:nvSpPr>
          <p:cNvPr id="21" name="Shape 19"/>
          <p:cNvSpPr/>
          <p:nvPr/>
        </p:nvSpPr>
        <p:spPr>
          <a:xfrm>
            <a:off x="5577840" y="3758184"/>
            <a:ext cx="3200400" cy="960120"/>
          </a:xfrm>
          <a:prstGeom prst="roundRect">
            <a:avLst>
              <a:gd name="adj" fmla="val 5714"/>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2" name="Text 20"/>
          <p:cNvSpPr/>
          <p:nvPr/>
        </p:nvSpPr>
        <p:spPr>
          <a:xfrm>
            <a:off x="5760720" y="3831336"/>
            <a:ext cx="2834640" cy="475488"/>
          </a:xfrm>
          <a:prstGeom prst="rect">
            <a:avLst/>
          </a:prstGeom>
          <a:noFill/>
          <a:ln/>
        </p:spPr>
        <p:txBody>
          <a:bodyPr wrap="square" lIns="0" tIns="0" rIns="0" bIns="0" rtlCol="0" anchor="ctr"/>
          <a:lstStyle/>
          <a:p>
            <a:pPr algn="l" indent="0" marL="0">
              <a:buNone/>
            </a:pPr>
            <a:r>
              <a:rPr lang="en-US" sz="2400" b="1" dirty="0">
                <a:solidFill>
                  <a:srgbClr val="5EADA0"/>
                </a:solidFill>
                <a:latin typeface="Calibri" pitchFamily="34" charset="0"/>
                <a:ea typeface="Calibri" pitchFamily="34" charset="-122"/>
                <a:cs typeface="Calibri" pitchFamily="34" charset="-120"/>
              </a:rPr>
              <a:t>BRSR</a:t>
            </a:r>
            <a:endParaRPr lang="en-US" sz="2400" dirty="0"/>
          </a:p>
        </p:txBody>
      </p:sp>
      <p:sp>
        <p:nvSpPr>
          <p:cNvPr id="23" name="Text 21"/>
          <p:cNvSpPr/>
          <p:nvPr/>
        </p:nvSpPr>
        <p:spPr>
          <a:xfrm>
            <a:off x="5760720" y="4325112"/>
            <a:ext cx="2834640" cy="219456"/>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Compliance Standard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37744"/>
            <a:ext cx="6400800" cy="182880"/>
          </a:xfrm>
          <a:prstGeom prst="rect">
            <a:avLst/>
          </a:prstGeom>
          <a:noFill/>
          <a:ln/>
        </p:spPr>
        <p:txBody>
          <a:bodyPr wrap="square" lIns="0" tIns="0" rIns="0" bIns="0" rtlCol="0" anchor="ctr"/>
          <a:lstStyle/>
          <a:p>
            <a:pPr algn="l" indent="0" marL="0">
              <a:buNone/>
            </a:pPr>
            <a:r>
              <a:rPr lang="en-US" sz="750" spc="200" kern="0" dirty="0">
                <a:solidFill>
                  <a:srgbClr val="5EADA0"/>
                </a:solidFill>
                <a:latin typeface="Courier New" pitchFamily="34" charset="0"/>
                <a:ea typeface="Courier New" pitchFamily="34" charset="-122"/>
                <a:cs typeface="Courier New" pitchFamily="34" charset="-120"/>
              </a:rPr>
              <a:t>01  /  PROBLEM UNDERSTANDING</a:t>
            </a:r>
            <a:endParaRPr lang="en-US" sz="750" dirty="0"/>
          </a:p>
        </p:txBody>
      </p:sp>
      <p:sp>
        <p:nvSpPr>
          <p:cNvPr id="3" name="Text 1"/>
          <p:cNvSpPr/>
          <p:nvPr/>
        </p:nvSpPr>
        <p:spPr>
          <a:xfrm>
            <a:off x="457200" y="438912"/>
            <a:ext cx="8229600" cy="475488"/>
          </a:xfrm>
          <a:prstGeom prst="rect">
            <a:avLst/>
          </a:prstGeom>
          <a:noFill/>
          <a:ln/>
        </p:spPr>
        <p:txBody>
          <a:bodyPr wrap="square" lIns="0" tIns="0" rIns="0" bIns="0" rtlCol="0" anchor="ctr"/>
          <a:lstStyle/>
          <a:p>
            <a:pPr algn="l" indent="0" marL="0">
              <a:buNone/>
            </a:pPr>
            <a:r>
              <a:rPr lang="en-US" sz="2400" b="1" dirty="0">
                <a:solidFill>
                  <a:srgbClr val="E8E8E8"/>
                </a:solidFill>
                <a:latin typeface="Calibri" pitchFamily="34" charset="0"/>
                <a:ea typeface="Calibri" pitchFamily="34" charset="-122"/>
                <a:cs typeface="Calibri" pitchFamily="34" charset="-120"/>
              </a:rPr>
              <a:t>The Visibility Gap in Supply Chain ESG</a:t>
            </a:r>
            <a:endParaRPr lang="en-US" sz="2400" dirty="0"/>
          </a:p>
        </p:txBody>
      </p:sp>
      <p:sp>
        <p:nvSpPr>
          <p:cNvPr id="4" name="Shape 2"/>
          <p:cNvSpPr/>
          <p:nvPr/>
        </p:nvSpPr>
        <p:spPr>
          <a:xfrm>
            <a:off x="457200" y="969264"/>
            <a:ext cx="8229600" cy="0"/>
          </a:xfrm>
          <a:prstGeom prst="line">
            <a:avLst/>
          </a:prstGeom>
          <a:noFill/>
          <a:ln w="6350">
            <a:solidFill>
              <a:srgbClr val="2E2E2E"/>
            </a:solidFill>
            <a:prstDash val="solid"/>
          </a:ln>
        </p:spPr>
      </p:sp>
      <p:sp>
        <p:nvSpPr>
          <p:cNvPr id="5" name="Shape 3"/>
          <p:cNvSpPr/>
          <p:nvPr/>
        </p:nvSpPr>
        <p:spPr>
          <a:xfrm>
            <a:off x="457200" y="1115568"/>
            <a:ext cx="5120640" cy="749808"/>
          </a:xfrm>
          <a:prstGeom prst="roundRect">
            <a:avLst>
              <a:gd name="adj" fmla="val 7317"/>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6" name="Text 4"/>
          <p:cNvSpPr/>
          <p:nvPr/>
        </p:nvSpPr>
        <p:spPr>
          <a:xfrm>
            <a:off x="658368" y="1316736"/>
            <a:ext cx="402336" cy="329184"/>
          </a:xfrm>
          <a:prstGeom prst="rect">
            <a:avLst/>
          </a:prstGeom>
          <a:noFill/>
          <a:ln/>
        </p:spPr>
        <p:txBody>
          <a:bodyPr wrap="square" lIns="0" tIns="0" rIns="0" bIns="0" rtlCol="0" anchor="ctr"/>
          <a:lstStyle/>
          <a:p>
            <a:pPr algn="ctr" indent="0" marL="0">
              <a:buNone/>
            </a:pPr>
            <a:r>
              <a:rPr lang="en-US" sz="1400" b="1" dirty="0">
                <a:solidFill>
                  <a:srgbClr val="3D8A7A"/>
                </a:solidFill>
                <a:latin typeface="Courier New" pitchFamily="34" charset="0"/>
                <a:ea typeface="Courier New" pitchFamily="34" charset="-122"/>
                <a:cs typeface="Courier New" pitchFamily="34" charset="-120"/>
              </a:rPr>
              <a:t>01</a:t>
            </a:r>
            <a:endParaRPr lang="en-US" sz="1400" dirty="0"/>
          </a:p>
        </p:txBody>
      </p:sp>
      <p:sp>
        <p:nvSpPr>
          <p:cNvPr id="7" name="Text 5"/>
          <p:cNvSpPr/>
          <p:nvPr/>
        </p:nvSpPr>
        <p:spPr>
          <a:xfrm>
            <a:off x="1170432" y="1207008"/>
            <a:ext cx="4206240" cy="237744"/>
          </a:xfrm>
          <a:prstGeom prst="rect">
            <a:avLst/>
          </a:prstGeom>
          <a:noFill/>
          <a:ln/>
        </p:spPr>
        <p:txBody>
          <a:bodyPr wrap="square" lIns="0" tIns="0" rIns="0" bIns="0" rtlCol="0" anchor="ctr"/>
          <a:lstStyle/>
          <a:p>
            <a:pPr algn="l" indent="0" marL="0">
              <a:buNone/>
            </a:pPr>
            <a:r>
              <a:rPr lang="en-US" sz="1100" b="1" dirty="0">
                <a:solidFill>
                  <a:srgbClr val="E8E8E8"/>
                </a:solidFill>
                <a:latin typeface="Calibri" pitchFamily="34" charset="0"/>
                <a:ea typeface="Calibri" pitchFamily="34" charset="-122"/>
                <a:cs typeface="Calibri" pitchFamily="34" charset="-120"/>
              </a:rPr>
              <a:t>No Process Visibility</a:t>
            </a:r>
            <a:endParaRPr lang="en-US" sz="1100" dirty="0"/>
          </a:p>
        </p:txBody>
      </p:sp>
      <p:sp>
        <p:nvSpPr>
          <p:cNvPr id="8" name="Text 6"/>
          <p:cNvSpPr/>
          <p:nvPr/>
        </p:nvSpPr>
        <p:spPr>
          <a:xfrm>
            <a:off x="1170432" y="1444752"/>
            <a:ext cx="4206240" cy="347472"/>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Companies cannot trace actual logistics sequences against intended models — violations go undetected for months, costing both compliance and carbon budget.</a:t>
            </a:r>
            <a:endParaRPr lang="en-US" sz="900" dirty="0"/>
          </a:p>
        </p:txBody>
      </p:sp>
      <p:sp>
        <p:nvSpPr>
          <p:cNvPr id="9" name="Shape 7"/>
          <p:cNvSpPr/>
          <p:nvPr/>
        </p:nvSpPr>
        <p:spPr>
          <a:xfrm>
            <a:off x="457200" y="1993392"/>
            <a:ext cx="5120640" cy="749808"/>
          </a:xfrm>
          <a:prstGeom prst="roundRect">
            <a:avLst>
              <a:gd name="adj" fmla="val 7317"/>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0" name="Text 8"/>
          <p:cNvSpPr/>
          <p:nvPr/>
        </p:nvSpPr>
        <p:spPr>
          <a:xfrm>
            <a:off x="658368" y="2194560"/>
            <a:ext cx="402336" cy="329184"/>
          </a:xfrm>
          <a:prstGeom prst="rect">
            <a:avLst/>
          </a:prstGeom>
          <a:noFill/>
          <a:ln/>
        </p:spPr>
        <p:txBody>
          <a:bodyPr wrap="square" lIns="0" tIns="0" rIns="0" bIns="0" rtlCol="0" anchor="ctr"/>
          <a:lstStyle/>
          <a:p>
            <a:pPr algn="ctr" indent="0" marL="0">
              <a:buNone/>
            </a:pPr>
            <a:r>
              <a:rPr lang="en-US" sz="1400" b="1" dirty="0">
                <a:solidFill>
                  <a:srgbClr val="3D8A7A"/>
                </a:solidFill>
                <a:latin typeface="Courier New" pitchFamily="34" charset="0"/>
                <a:ea typeface="Courier New" pitchFamily="34" charset="-122"/>
                <a:cs typeface="Courier New" pitchFamily="34" charset="-120"/>
              </a:rPr>
              <a:t>02</a:t>
            </a:r>
            <a:endParaRPr lang="en-US" sz="1400" dirty="0"/>
          </a:p>
        </p:txBody>
      </p:sp>
      <p:sp>
        <p:nvSpPr>
          <p:cNvPr id="11" name="Text 9"/>
          <p:cNvSpPr/>
          <p:nvPr/>
        </p:nvSpPr>
        <p:spPr>
          <a:xfrm>
            <a:off x="1170432" y="2084832"/>
            <a:ext cx="4206240" cy="237744"/>
          </a:xfrm>
          <a:prstGeom prst="rect">
            <a:avLst/>
          </a:prstGeom>
          <a:noFill/>
          <a:ln/>
        </p:spPr>
        <p:txBody>
          <a:bodyPr wrap="square" lIns="0" tIns="0" rIns="0" bIns="0" rtlCol="0" anchor="ctr"/>
          <a:lstStyle/>
          <a:p>
            <a:pPr algn="l" indent="0" marL="0">
              <a:buNone/>
            </a:pPr>
            <a:r>
              <a:rPr lang="en-US" sz="1100" b="1" dirty="0">
                <a:solidFill>
                  <a:srgbClr val="E8E8E8"/>
                </a:solidFill>
                <a:latin typeface="Calibri" pitchFamily="34" charset="0"/>
                <a:ea typeface="Calibri" pitchFamily="34" charset="-122"/>
                <a:cs typeface="Calibri" pitchFamily="34" charset="-120"/>
              </a:rPr>
              <a:t>Manual Carbon Accounting</a:t>
            </a:r>
            <a:endParaRPr lang="en-US" sz="1100" dirty="0"/>
          </a:p>
        </p:txBody>
      </p:sp>
      <p:sp>
        <p:nvSpPr>
          <p:cNvPr id="12" name="Text 10"/>
          <p:cNvSpPr/>
          <p:nvPr/>
        </p:nvSpPr>
        <p:spPr>
          <a:xfrm>
            <a:off x="1170432" y="2322576"/>
            <a:ext cx="4206240" cy="347472"/>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Scope 3 emissions estimated quarterly on spreadsheets — never at per-shipment, per-activity granularity required for BRSR disclosure.</a:t>
            </a:r>
            <a:endParaRPr lang="en-US" sz="900" dirty="0"/>
          </a:p>
        </p:txBody>
      </p:sp>
      <p:sp>
        <p:nvSpPr>
          <p:cNvPr id="13" name="Shape 11"/>
          <p:cNvSpPr/>
          <p:nvPr/>
        </p:nvSpPr>
        <p:spPr>
          <a:xfrm>
            <a:off x="457200" y="2871216"/>
            <a:ext cx="5120640" cy="749808"/>
          </a:xfrm>
          <a:prstGeom prst="roundRect">
            <a:avLst>
              <a:gd name="adj" fmla="val 7317"/>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4" name="Text 12"/>
          <p:cNvSpPr/>
          <p:nvPr/>
        </p:nvSpPr>
        <p:spPr>
          <a:xfrm>
            <a:off x="658368" y="3072384"/>
            <a:ext cx="402336" cy="329184"/>
          </a:xfrm>
          <a:prstGeom prst="rect">
            <a:avLst/>
          </a:prstGeom>
          <a:noFill/>
          <a:ln/>
        </p:spPr>
        <p:txBody>
          <a:bodyPr wrap="square" lIns="0" tIns="0" rIns="0" bIns="0" rtlCol="0" anchor="ctr"/>
          <a:lstStyle/>
          <a:p>
            <a:pPr algn="ctr" indent="0" marL="0">
              <a:buNone/>
            </a:pPr>
            <a:r>
              <a:rPr lang="en-US" sz="1400" b="1" dirty="0">
                <a:solidFill>
                  <a:srgbClr val="3D8A7A"/>
                </a:solidFill>
                <a:latin typeface="Courier New" pitchFamily="34" charset="0"/>
                <a:ea typeface="Courier New" pitchFamily="34" charset="-122"/>
                <a:cs typeface="Courier New" pitchFamily="34" charset="-120"/>
              </a:rPr>
              <a:t>03</a:t>
            </a:r>
            <a:endParaRPr lang="en-US" sz="1400" dirty="0"/>
          </a:p>
        </p:txBody>
      </p:sp>
      <p:sp>
        <p:nvSpPr>
          <p:cNvPr id="15" name="Text 13"/>
          <p:cNvSpPr/>
          <p:nvPr/>
        </p:nvSpPr>
        <p:spPr>
          <a:xfrm>
            <a:off x="1170432" y="2962656"/>
            <a:ext cx="4206240" cy="237744"/>
          </a:xfrm>
          <a:prstGeom prst="rect">
            <a:avLst/>
          </a:prstGeom>
          <a:noFill/>
          <a:ln/>
        </p:spPr>
        <p:txBody>
          <a:bodyPr wrap="square" lIns="0" tIns="0" rIns="0" bIns="0" rtlCol="0" anchor="ctr"/>
          <a:lstStyle/>
          <a:p>
            <a:pPr algn="l" indent="0" marL="0">
              <a:buNone/>
            </a:pPr>
            <a:r>
              <a:rPr lang="en-US" sz="1100" b="1" dirty="0">
                <a:solidFill>
                  <a:srgbClr val="E8E8E8"/>
                </a:solidFill>
                <a:latin typeface="Calibri" pitchFamily="34" charset="0"/>
                <a:ea typeface="Calibri" pitchFamily="34" charset="-122"/>
                <a:cs typeface="Calibri" pitchFamily="34" charset="-120"/>
              </a:rPr>
              <a:t>Regulation Blindness</a:t>
            </a:r>
            <a:endParaRPr lang="en-US" sz="1100" dirty="0"/>
          </a:p>
        </p:txBody>
      </p:sp>
      <p:sp>
        <p:nvSpPr>
          <p:cNvPr id="16" name="Text 14"/>
          <p:cNvSpPr/>
          <p:nvPr/>
        </p:nvSpPr>
        <p:spPr>
          <a:xfrm>
            <a:off x="1170432" y="3200400"/>
            <a:ext cx="4206240" cy="347472"/>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BRSR (India), GHG Protocol, and ESG frameworks require activity-level traceability. No existing tool provides this end-to-end without expensive consultants.</a:t>
            </a:r>
            <a:endParaRPr lang="en-US" sz="900" dirty="0"/>
          </a:p>
        </p:txBody>
      </p:sp>
      <p:sp>
        <p:nvSpPr>
          <p:cNvPr id="17" name="Shape 15"/>
          <p:cNvSpPr/>
          <p:nvPr/>
        </p:nvSpPr>
        <p:spPr>
          <a:xfrm>
            <a:off x="457200" y="3749040"/>
            <a:ext cx="5120640" cy="749808"/>
          </a:xfrm>
          <a:prstGeom prst="roundRect">
            <a:avLst>
              <a:gd name="adj" fmla="val 7317"/>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8" name="Text 16"/>
          <p:cNvSpPr/>
          <p:nvPr/>
        </p:nvSpPr>
        <p:spPr>
          <a:xfrm>
            <a:off x="658368" y="3950208"/>
            <a:ext cx="402336" cy="329184"/>
          </a:xfrm>
          <a:prstGeom prst="rect">
            <a:avLst/>
          </a:prstGeom>
          <a:noFill/>
          <a:ln/>
        </p:spPr>
        <p:txBody>
          <a:bodyPr wrap="square" lIns="0" tIns="0" rIns="0" bIns="0" rtlCol="0" anchor="ctr"/>
          <a:lstStyle/>
          <a:p>
            <a:pPr algn="ctr" indent="0" marL="0">
              <a:buNone/>
            </a:pPr>
            <a:r>
              <a:rPr lang="en-US" sz="1400" b="1" dirty="0">
                <a:solidFill>
                  <a:srgbClr val="3D8A7A"/>
                </a:solidFill>
                <a:latin typeface="Courier New" pitchFamily="34" charset="0"/>
                <a:ea typeface="Courier New" pitchFamily="34" charset="-122"/>
                <a:cs typeface="Courier New" pitchFamily="34" charset="-120"/>
              </a:rPr>
              <a:t>04</a:t>
            </a:r>
            <a:endParaRPr lang="en-US" sz="1400" dirty="0"/>
          </a:p>
        </p:txBody>
      </p:sp>
      <p:sp>
        <p:nvSpPr>
          <p:cNvPr id="19" name="Text 17"/>
          <p:cNvSpPr/>
          <p:nvPr/>
        </p:nvSpPr>
        <p:spPr>
          <a:xfrm>
            <a:off x="1170432" y="3840480"/>
            <a:ext cx="4206240" cy="237744"/>
          </a:xfrm>
          <a:prstGeom prst="rect">
            <a:avLst/>
          </a:prstGeom>
          <a:noFill/>
          <a:ln/>
        </p:spPr>
        <p:txBody>
          <a:bodyPr wrap="square" lIns="0" tIns="0" rIns="0" bIns="0" rtlCol="0" anchor="ctr"/>
          <a:lstStyle/>
          <a:p>
            <a:pPr algn="l" indent="0" marL="0">
              <a:buNone/>
            </a:pPr>
            <a:r>
              <a:rPr lang="en-US" sz="1100" b="1" dirty="0">
                <a:solidFill>
                  <a:srgbClr val="E8E8E8"/>
                </a:solidFill>
                <a:latin typeface="Calibri" pitchFamily="34" charset="0"/>
                <a:ea typeface="Calibri" pitchFamily="34" charset="-122"/>
                <a:cs typeface="Calibri" pitchFamily="34" charset="-120"/>
              </a:rPr>
              <a:t>Supplier Opacity</a:t>
            </a:r>
            <a:endParaRPr lang="en-US" sz="1100" dirty="0"/>
          </a:p>
        </p:txBody>
      </p:sp>
      <p:sp>
        <p:nvSpPr>
          <p:cNvPr id="20" name="Text 18"/>
          <p:cNvSpPr/>
          <p:nvPr/>
        </p:nvSpPr>
        <p:spPr>
          <a:xfrm>
            <a:off x="1170432" y="4078224"/>
            <a:ext cx="4206240" cy="347472"/>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No system ranks supplier carbon fitness per transaction or automatically flags which partners drive the most policy violations.</a:t>
            </a:r>
            <a:endParaRPr lang="en-US" sz="900" dirty="0"/>
          </a:p>
        </p:txBody>
      </p:sp>
      <p:sp>
        <p:nvSpPr>
          <p:cNvPr id="21" name="Shape 19"/>
          <p:cNvSpPr/>
          <p:nvPr/>
        </p:nvSpPr>
        <p:spPr>
          <a:xfrm>
            <a:off x="5760720" y="1115568"/>
            <a:ext cx="3063240" cy="3493008"/>
          </a:xfrm>
          <a:prstGeom prst="roundRect">
            <a:avLst>
              <a:gd name="adj" fmla="val 1791"/>
            </a:avLst>
          </a:prstGeom>
          <a:solidFill>
            <a:srgbClr val="111111"/>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2" name="Text 20"/>
          <p:cNvSpPr/>
          <p:nvPr/>
        </p:nvSpPr>
        <p:spPr>
          <a:xfrm>
            <a:off x="5943600" y="1243584"/>
            <a:ext cx="2697480" cy="182880"/>
          </a:xfrm>
          <a:prstGeom prst="rect">
            <a:avLst/>
          </a:prstGeom>
          <a:noFill/>
          <a:ln/>
        </p:spPr>
        <p:txBody>
          <a:bodyPr wrap="square" lIns="0" tIns="0" rIns="0" bIns="0" rtlCol="0" anchor="ctr"/>
          <a:lstStyle/>
          <a:p>
            <a:pPr algn="l" indent="0" marL="0">
              <a:buNone/>
            </a:pPr>
            <a:r>
              <a:rPr lang="en-US" sz="700" spc="150" kern="0" dirty="0">
                <a:solidFill>
                  <a:srgbClr val="5EA87A"/>
                </a:solidFill>
                <a:latin typeface="Courier New" pitchFamily="34" charset="0"/>
                <a:ea typeface="Courier New" pitchFamily="34" charset="-122"/>
                <a:cs typeface="Courier New" pitchFamily="34" charset="-120"/>
              </a:rPr>
              <a:t>THE SCALE OF THE PROBLEM</a:t>
            </a:r>
            <a:endParaRPr lang="en-US" sz="700" dirty="0"/>
          </a:p>
        </p:txBody>
      </p:sp>
      <p:sp>
        <p:nvSpPr>
          <p:cNvPr id="23" name="Text 21"/>
          <p:cNvSpPr/>
          <p:nvPr/>
        </p:nvSpPr>
        <p:spPr>
          <a:xfrm>
            <a:off x="5961888" y="1600200"/>
            <a:ext cx="2697480" cy="402336"/>
          </a:xfrm>
          <a:prstGeom prst="rect">
            <a:avLst/>
          </a:prstGeom>
          <a:noFill/>
          <a:ln/>
        </p:spPr>
        <p:txBody>
          <a:bodyPr wrap="square" lIns="0" tIns="0" rIns="0" bIns="0" rtlCol="0" anchor="ctr"/>
          <a:lstStyle/>
          <a:p>
            <a:pPr algn="l" indent="0" marL="0">
              <a:buNone/>
            </a:pPr>
            <a:r>
              <a:rPr lang="en-US" sz="2400" b="1" dirty="0">
                <a:solidFill>
                  <a:srgbClr val="5EA87A"/>
                </a:solidFill>
                <a:latin typeface="Calibri" pitchFamily="34" charset="0"/>
                <a:ea typeface="Calibri" pitchFamily="34" charset="-122"/>
                <a:cs typeface="Calibri" pitchFamily="34" charset="-120"/>
              </a:rPr>
              <a:t>80%</a:t>
            </a:r>
            <a:endParaRPr lang="en-US" sz="2400" dirty="0"/>
          </a:p>
        </p:txBody>
      </p:sp>
      <p:sp>
        <p:nvSpPr>
          <p:cNvPr id="24" name="Text 22"/>
          <p:cNvSpPr/>
          <p:nvPr/>
        </p:nvSpPr>
        <p:spPr>
          <a:xfrm>
            <a:off x="5961888" y="2002536"/>
            <a:ext cx="2697480" cy="329184"/>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of enterprise carbon footprint sits in supply chains (Scope 3)</a:t>
            </a:r>
            <a:endParaRPr lang="en-US" sz="900" dirty="0"/>
          </a:p>
        </p:txBody>
      </p:sp>
      <p:sp>
        <p:nvSpPr>
          <p:cNvPr id="25" name="Shape 23"/>
          <p:cNvSpPr/>
          <p:nvPr/>
        </p:nvSpPr>
        <p:spPr>
          <a:xfrm>
            <a:off x="5961888" y="2386584"/>
            <a:ext cx="2560320" cy="0"/>
          </a:xfrm>
          <a:prstGeom prst="line">
            <a:avLst/>
          </a:prstGeom>
          <a:noFill/>
          <a:ln w="5080">
            <a:solidFill>
              <a:srgbClr val="2E2E2E"/>
            </a:solidFill>
            <a:prstDash val="solid"/>
          </a:ln>
        </p:spPr>
      </p:sp>
      <p:sp>
        <p:nvSpPr>
          <p:cNvPr id="26" name="Text 24"/>
          <p:cNvSpPr/>
          <p:nvPr/>
        </p:nvSpPr>
        <p:spPr>
          <a:xfrm>
            <a:off x="5961888" y="2587752"/>
            <a:ext cx="2697480" cy="402336"/>
          </a:xfrm>
          <a:prstGeom prst="rect">
            <a:avLst/>
          </a:prstGeom>
          <a:noFill/>
          <a:ln/>
        </p:spPr>
        <p:txBody>
          <a:bodyPr wrap="square" lIns="0" tIns="0" rIns="0" bIns="0" rtlCol="0" anchor="ctr"/>
          <a:lstStyle/>
          <a:p>
            <a:pPr algn="l" indent="0" marL="0">
              <a:buNone/>
            </a:pPr>
            <a:r>
              <a:rPr lang="en-US" sz="2400" b="1" dirty="0">
                <a:solidFill>
                  <a:srgbClr val="5EA87A"/>
                </a:solidFill>
                <a:latin typeface="Calibri" pitchFamily="34" charset="0"/>
                <a:ea typeface="Calibri" pitchFamily="34" charset="-122"/>
                <a:cs typeface="Calibri" pitchFamily="34" charset="-120"/>
              </a:rPr>
              <a:t>$2.3T</a:t>
            </a:r>
            <a:endParaRPr lang="en-US" sz="2400" dirty="0"/>
          </a:p>
        </p:txBody>
      </p:sp>
      <p:sp>
        <p:nvSpPr>
          <p:cNvPr id="27" name="Text 25"/>
          <p:cNvSpPr/>
          <p:nvPr/>
        </p:nvSpPr>
        <p:spPr>
          <a:xfrm>
            <a:off x="5961888" y="2990088"/>
            <a:ext cx="2697480" cy="329184"/>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annual cost of global supply chain inefficiencies</a:t>
            </a:r>
            <a:endParaRPr lang="en-US" sz="900" dirty="0"/>
          </a:p>
        </p:txBody>
      </p:sp>
      <p:sp>
        <p:nvSpPr>
          <p:cNvPr id="28" name="Shape 26"/>
          <p:cNvSpPr/>
          <p:nvPr/>
        </p:nvSpPr>
        <p:spPr>
          <a:xfrm>
            <a:off x="5961888" y="3374136"/>
            <a:ext cx="2560320" cy="0"/>
          </a:xfrm>
          <a:prstGeom prst="line">
            <a:avLst/>
          </a:prstGeom>
          <a:noFill/>
          <a:ln w="5080">
            <a:solidFill>
              <a:srgbClr val="2E2E2E"/>
            </a:solidFill>
            <a:prstDash val="solid"/>
          </a:ln>
        </p:spPr>
      </p:sp>
      <p:sp>
        <p:nvSpPr>
          <p:cNvPr id="29" name="Text 27"/>
          <p:cNvSpPr/>
          <p:nvPr/>
        </p:nvSpPr>
        <p:spPr>
          <a:xfrm>
            <a:off x="5961888" y="3575304"/>
            <a:ext cx="2697480" cy="402336"/>
          </a:xfrm>
          <a:prstGeom prst="rect">
            <a:avLst/>
          </a:prstGeom>
          <a:noFill/>
          <a:ln/>
        </p:spPr>
        <p:txBody>
          <a:bodyPr wrap="square" lIns="0" tIns="0" rIns="0" bIns="0" rtlCol="0" anchor="ctr"/>
          <a:lstStyle/>
          <a:p>
            <a:pPr algn="l" indent="0" marL="0">
              <a:buNone/>
            </a:pPr>
            <a:r>
              <a:rPr lang="en-US" sz="2400" b="1" dirty="0">
                <a:solidFill>
                  <a:srgbClr val="5EA87A"/>
                </a:solidFill>
                <a:latin typeface="Calibri" pitchFamily="34" charset="0"/>
                <a:ea typeface="Calibri" pitchFamily="34" charset="-122"/>
                <a:cs typeface="Calibri" pitchFamily="34" charset="-120"/>
              </a:rPr>
              <a:t>BRSR</a:t>
            </a:r>
            <a:endParaRPr lang="en-US" sz="2400" dirty="0"/>
          </a:p>
        </p:txBody>
      </p:sp>
      <p:sp>
        <p:nvSpPr>
          <p:cNvPr id="30" name="Text 28"/>
          <p:cNvSpPr/>
          <p:nvPr/>
        </p:nvSpPr>
        <p:spPr>
          <a:xfrm>
            <a:off x="5961888" y="3977640"/>
            <a:ext cx="2697480" cy="329184"/>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Mandatory for top 1000 NSE/BSE companies from FY2023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37744"/>
            <a:ext cx="6400800" cy="182880"/>
          </a:xfrm>
          <a:prstGeom prst="rect">
            <a:avLst/>
          </a:prstGeom>
          <a:noFill/>
          <a:ln/>
        </p:spPr>
        <p:txBody>
          <a:bodyPr wrap="square" lIns="0" tIns="0" rIns="0" bIns="0" rtlCol="0" anchor="ctr"/>
          <a:lstStyle/>
          <a:p>
            <a:pPr algn="l" indent="0" marL="0">
              <a:buNone/>
            </a:pPr>
            <a:r>
              <a:rPr lang="en-US" sz="750" spc="200" kern="0" dirty="0">
                <a:solidFill>
                  <a:srgbClr val="5EADA0"/>
                </a:solidFill>
                <a:latin typeface="Courier New" pitchFamily="34" charset="0"/>
                <a:ea typeface="Courier New" pitchFamily="34" charset="-122"/>
                <a:cs typeface="Courier New" pitchFamily="34" charset="-120"/>
              </a:rPr>
              <a:t>02  /  SOLUTION ARCHITECTURE</a:t>
            </a:r>
            <a:endParaRPr lang="en-US" sz="750" dirty="0"/>
          </a:p>
        </p:txBody>
      </p:sp>
      <p:sp>
        <p:nvSpPr>
          <p:cNvPr id="3" name="Text 1"/>
          <p:cNvSpPr/>
          <p:nvPr/>
        </p:nvSpPr>
        <p:spPr>
          <a:xfrm>
            <a:off x="457200" y="438912"/>
            <a:ext cx="8229600" cy="475488"/>
          </a:xfrm>
          <a:prstGeom prst="rect">
            <a:avLst/>
          </a:prstGeom>
          <a:noFill/>
          <a:ln/>
        </p:spPr>
        <p:txBody>
          <a:bodyPr wrap="square" lIns="0" tIns="0" rIns="0" bIns="0" rtlCol="0" anchor="ctr"/>
          <a:lstStyle/>
          <a:p>
            <a:pPr algn="l" indent="0" marL="0">
              <a:buNone/>
            </a:pPr>
            <a:r>
              <a:rPr lang="en-US" sz="2400" b="1" dirty="0">
                <a:solidFill>
                  <a:srgbClr val="E8E8E8"/>
                </a:solidFill>
                <a:latin typeface="Calibri" pitchFamily="34" charset="0"/>
                <a:ea typeface="Calibri" pitchFamily="34" charset="-122"/>
                <a:cs typeface="Calibri" pitchFamily="34" charset="-120"/>
              </a:rPr>
              <a:t>One Upload. Eight Engines. Full ESG Picture.</a:t>
            </a:r>
            <a:endParaRPr lang="en-US" sz="2400" dirty="0"/>
          </a:p>
        </p:txBody>
      </p:sp>
      <p:sp>
        <p:nvSpPr>
          <p:cNvPr id="4" name="Shape 2"/>
          <p:cNvSpPr/>
          <p:nvPr/>
        </p:nvSpPr>
        <p:spPr>
          <a:xfrm>
            <a:off x="457200" y="969264"/>
            <a:ext cx="8229600" cy="0"/>
          </a:xfrm>
          <a:prstGeom prst="line">
            <a:avLst/>
          </a:prstGeom>
          <a:noFill/>
          <a:ln w="6350">
            <a:solidFill>
              <a:srgbClr val="2E2E2E"/>
            </a:solidFill>
            <a:prstDash val="solid"/>
          </a:ln>
        </p:spPr>
      </p:sp>
      <p:sp>
        <p:nvSpPr>
          <p:cNvPr id="5" name="Text 3"/>
          <p:cNvSpPr/>
          <p:nvPr/>
        </p:nvSpPr>
        <p:spPr>
          <a:xfrm>
            <a:off x="457200" y="1024128"/>
            <a:ext cx="8229600" cy="219456"/>
          </a:xfrm>
          <a:prstGeom prst="rect">
            <a:avLst/>
          </a:prstGeom>
          <a:noFill/>
          <a:ln/>
        </p:spPr>
        <p:txBody>
          <a:bodyPr wrap="square" lIns="0" tIns="0" rIns="0" bIns="0" rtlCol="0" anchor="ctr"/>
          <a:lstStyle/>
          <a:p>
            <a:pPr algn="l" indent="0" marL="0">
              <a:buNone/>
            </a:pPr>
            <a:r>
              <a:rPr lang="en-US" sz="950" i="1" dirty="0">
                <a:solidFill>
                  <a:srgbClr val="636363"/>
                </a:solidFill>
                <a:latin typeface="Calibri" pitchFamily="34" charset="0"/>
                <a:ea typeface="Calibri" pitchFamily="34" charset="-122"/>
                <a:cs typeface="Calibri" pitchFamily="34" charset="-120"/>
              </a:rPr>
              <a:t>Single CSV upload → 8 analytical modules fire in parallel → real-time 14-page dashboard</a:t>
            </a:r>
            <a:endParaRPr lang="en-US" sz="950" dirty="0"/>
          </a:p>
        </p:txBody>
      </p:sp>
      <p:sp>
        <p:nvSpPr>
          <p:cNvPr id="6" name="Shape 4"/>
          <p:cNvSpPr/>
          <p:nvPr/>
        </p:nvSpPr>
        <p:spPr>
          <a:xfrm>
            <a:off x="256032" y="1335024"/>
            <a:ext cx="1115568" cy="914400"/>
          </a:xfrm>
          <a:prstGeom prst="roundRect">
            <a:avLst>
              <a:gd name="adj" fmla="val 6000"/>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7" name="Text 5"/>
          <p:cNvSpPr/>
          <p:nvPr/>
        </p:nvSpPr>
        <p:spPr>
          <a:xfrm>
            <a:off x="310896" y="1399032"/>
            <a:ext cx="1005840" cy="182880"/>
          </a:xfrm>
          <a:prstGeom prst="rect">
            <a:avLst/>
          </a:prstGeom>
          <a:noFill/>
          <a:ln/>
        </p:spPr>
        <p:txBody>
          <a:bodyPr wrap="square" lIns="0" tIns="0" rIns="0" bIns="0" rtlCol="0" anchor="ctr"/>
          <a:lstStyle/>
          <a:p>
            <a:pPr algn="ctr" indent="0" marL="0">
              <a:buNone/>
            </a:pPr>
            <a:r>
              <a:rPr lang="en-US" sz="750" dirty="0">
                <a:solidFill>
                  <a:srgbClr val="636363"/>
                </a:solidFill>
                <a:latin typeface="Courier New" pitchFamily="34" charset="0"/>
                <a:ea typeface="Courier New" pitchFamily="34" charset="-122"/>
                <a:cs typeface="Courier New" pitchFamily="34" charset="-120"/>
              </a:rPr>
              <a:t>01</a:t>
            </a:r>
            <a:endParaRPr lang="en-US" sz="750" dirty="0"/>
          </a:p>
        </p:txBody>
      </p:sp>
      <p:sp>
        <p:nvSpPr>
          <p:cNvPr id="8" name="Text 6"/>
          <p:cNvSpPr/>
          <p:nvPr/>
        </p:nvSpPr>
        <p:spPr>
          <a:xfrm>
            <a:off x="310896" y="1581912"/>
            <a:ext cx="1005840" cy="237744"/>
          </a:xfrm>
          <a:prstGeom prst="rect">
            <a:avLst/>
          </a:prstGeom>
          <a:noFill/>
          <a:ln/>
        </p:spPr>
        <p:txBody>
          <a:bodyPr wrap="square" lIns="0" tIns="0" rIns="0" bIns="0" rtlCol="0" anchor="ctr"/>
          <a:lstStyle/>
          <a:p>
            <a:pPr algn="ctr" indent="0" marL="0">
              <a:buNone/>
            </a:pPr>
            <a:r>
              <a:rPr lang="en-US" sz="950" b="1" dirty="0">
                <a:solidFill>
                  <a:srgbClr val="C8C8C8"/>
                </a:solidFill>
                <a:latin typeface="Calibri" pitchFamily="34" charset="0"/>
                <a:ea typeface="Calibri" pitchFamily="34" charset="-122"/>
                <a:cs typeface="Calibri" pitchFamily="34" charset="-120"/>
              </a:rPr>
              <a:t>CSV Upload</a:t>
            </a:r>
            <a:endParaRPr lang="en-US" sz="950" dirty="0"/>
          </a:p>
        </p:txBody>
      </p:sp>
      <p:sp>
        <p:nvSpPr>
          <p:cNvPr id="9" name="Text 7"/>
          <p:cNvSpPr/>
          <p:nvPr/>
        </p:nvSpPr>
        <p:spPr>
          <a:xfrm>
            <a:off x="310896" y="1837944"/>
            <a:ext cx="1005840" cy="182880"/>
          </a:xfrm>
          <a:prstGeom prst="rect">
            <a:avLst/>
          </a:prstGeom>
          <a:noFill/>
          <a:ln/>
        </p:spPr>
        <p:txBody>
          <a:bodyPr wrap="square" lIns="0" tIns="0" rIns="0" bIns="0" rtlCol="0" anchor="ctr"/>
          <a:lstStyle/>
          <a:p>
            <a:pPr algn="ctr" indent="0" marL="0">
              <a:buNone/>
            </a:pPr>
            <a:r>
              <a:rPr lang="en-US" sz="800" dirty="0">
                <a:solidFill>
                  <a:srgbClr val="636363"/>
                </a:solidFill>
                <a:latin typeface="Calibri" pitchFamily="34" charset="0"/>
                <a:ea typeface="Calibri" pitchFamily="34" charset="-122"/>
                <a:cs typeface="Calibri" pitchFamily="34" charset="-120"/>
              </a:rPr>
              <a:t>Any schema</a:t>
            </a:r>
            <a:endParaRPr lang="en-US" sz="800" dirty="0"/>
          </a:p>
        </p:txBody>
      </p:sp>
      <p:sp>
        <p:nvSpPr>
          <p:cNvPr id="10" name="Text 8"/>
          <p:cNvSpPr/>
          <p:nvPr/>
        </p:nvSpPr>
        <p:spPr>
          <a:xfrm>
            <a:off x="1371600" y="1664208"/>
            <a:ext cx="146304" cy="256032"/>
          </a:xfrm>
          <a:prstGeom prst="rect">
            <a:avLst/>
          </a:prstGeom>
          <a:noFill/>
          <a:ln/>
        </p:spPr>
        <p:txBody>
          <a:bodyPr wrap="square" lIns="0" tIns="0" rIns="0" bIns="0" rtlCol="0" anchor="ctr"/>
          <a:lstStyle/>
          <a:p>
            <a:pPr algn="ctr" indent="0" marL="0">
              <a:buNone/>
            </a:pPr>
            <a:r>
              <a:rPr lang="en-US" sz="1100" dirty="0">
                <a:solidFill>
                  <a:srgbClr val="3A3A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1508760" y="1335024"/>
            <a:ext cx="1115568" cy="914400"/>
          </a:xfrm>
          <a:prstGeom prst="roundRect">
            <a:avLst>
              <a:gd name="adj" fmla="val 6000"/>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2" name="Text 10"/>
          <p:cNvSpPr/>
          <p:nvPr/>
        </p:nvSpPr>
        <p:spPr>
          <a:xfrm>
            <a:off x="1563624" y="1399032"/>
            <a:ext cx="1005840" cy="182880"/>
          </a:xfrm>
          <a:prstGeom prst="rect">
            <a:avLst/>
          </a:prstGeom>
          <a:noFill/>
          <a:ln/>
        </p:spPr>
        <p:txBody>
          <a:bodyPr wrap="square" lIns="0" tIns="0" rIns="0" bIns="0" rtlCol="0" anchor="ctr"/>
          <a:lstStyle/>
          <a:p>
            <a:pPr algn="ctr" indent="0" marL="0">
              <a:buNone/>
            </a:pPr>
            <a:r>
              <a:rPr lang="en-US" sz="750" dirty="0">
                <a:solidFill>
                  <a:srgbClr val="636363"/>
                </a:solidFill>
                <a:latin typeface="Courier New" pitchFamily="34" charset="0"/>
                <a:ea typeface="Courier New" pitchFamily="34" charset="-122"/>
                <a:cs typeface="Courier New" pitchFamily="34" charset="-120"/>
              </a:rPr>
              <a:t>02</a:t>
            </a:r>
            <a:endParaRPr lang="en-US" sz="750" dirty="0"/>
          </a:p>
        </p:txBody>
      </p:sp>
      <p:sp>
        <p:nvSpPr>
          <p:cNvPr id="13" name="Text 11"/>
          <p:cNvSpPr/>
          <p:nvPr/>
        </p:nvSpPr>
        <p:spPr>
          <a:xfrm>
            <a:off x="1563624" y="1581912"/>
            <a:ext cx="1005840" cy="237744"/>
          </a:xfrm>
          <a:prstGeom prst="rect">
            <a:avLst/>
          </a:prstGeom>
          <a:noFill/>
          <a:ln/>
        </p:spPr>
        <p:txBody>
          <a:bodyPr wrap="square" lIns="0" tIns="0" rIns="0" bIns="0" rtlCol="0" anchor="ctr"/>
          <a:lstStyle/>
          <a:p>
            <a:pPr algn="ctr" indent="0" marL="0">
              <a:buNone/>
            </a:pPr>
            <a:r>
              <a:rPr lang="en-US" sz="950" b="1" dirty="0">
                <a:solidFill>
                  <a:srgbClr val="C8C8C8"/>
                </a:solidFill>
                <a:latin typeface="Calibri" pitchFamily="34" charset="0"/>
                <a:ea typeface="Calibri" pitchFamily="34" charset="-122"/>
                <a:cs typeface="Calibri" pitchFamily="34" charset="-120"/>
              </a:rPr>
              <a:t>Column Map</a:t>
            </a:r>
            <a:endParaRPr lang="en-US" sz="950" dirty="0"/>
          </a:p>
        </p:txBody>
      </p:sp>
      <p:sp>
        <p:nvSpPr>
          <p:cNvPr id="14" name="Text 12"/>
          <p:cNvSpPr/>
          <p:nvPr/>
        </p:nvSpPr>
        <p:spPr>
          <a:xfrm>
            <a:off x="1563624" y="1837944"/>
            <a:ext cx="1005840" cy="182880"/>
          </a:xfrm>
          <a:prstGeom prst="rect">
            <a:avLst/>
          </a:prstGeom>
          <a:noFill/>
          <a:ln/>
        </p:spPr>
        <p:txBody>
          <a:bodyPr wrap="square" lIns="0" tIns="0" rIns="0" bIns="0" rtlCol="0" anchor="ctr"/>
          <a:lstStyle/>
          <a:p>
            <a:pPr algn="ctr" indent="0" marL="0">
              <a:buNone/>
            </a:pPr>
            <a:r>
              <a:rPr lang="en-US" sz="800" dirty="0">
                <a:solidFill>
                  <a:srgbClr val="636363"/>
                </a:solidFill>
                <a:latin typeface="Calibri" pitchFamily="34" charset="0"/>
                <a:ea typeface="Calibri" pitchFamily="34" charset="-122"/>
                <a:cs typeface="Calibri" pitchFamily="34" charset="-120"/>
              </a:rPr>
              <a:t>Fuzzy match</a:t>
            </a:r>
            <a:endParaRPr lang="en-US" sz="800" dirty="0"/>
          </a:p>
        </p:txBody>
      </p:sp>
      <p:sp>
        <p:nvSpPr>
          <p:cNvPr id="15" name="Text 13"/>
          <p:cNvSpPr/>
          <p:nvPr/>
        </p:nvSpPr>
        <p:spPr>
          <a:xfrm>
            <a:off x="2624328" y="1664208"/>
            <a:ext cx="146304" cy="256032"/>
          </a:xfrm>
          <a:prstGeom prst="rect">
            <a:avLst/>
          </a:prstGeom>
          <a:noFill/>
          <a:ln/>
        </p:spPr>
        <p:txBody>
          <a:bodyPr wrap="square" lIns="0" tIns="0" rIns="0" bIns="0" rtlCol="0" anchor="ctr"/>
          <a:lstStyle/>
          <a:p>
            <a:pPr algn="ctr" indent="0" marL="0">
              <a:buNone/>
            </a:pPr>
            <a:r>
              <a:rPr lang="en-US" sz="1100" dirty="0">
                <a:solidFill>
                  <a:srgbClr val="3A3A3A"/>
                </a:solidFill>
                <a:latin typeface="Calibri" pitchFamily="34" charset="0"/>
                <a:ea typeface="Calibri" pitchFamily="34" charset="-122"/>
                <a:cs typeface="Calibri" pitchFamily="34" charset="-120"/>
              </a:rPr>
              <a:t>→</a:t>
            </a:r>
            <a:endParaRPr lang="en-US" sz="1100" dirty="0"/>
          </a:p>
        </p:txBody>
      </p:sp>
      <p:sp>
        <p:nvSpPr>
          <p:cNvPr id="16" name="Shape 14"/>
          <p:cNvSpPr/>
          <p:nvPr/>
        </p:nvSpPr>
        <p:spPr>
          <a:xfrm>
            <a:off x="2761488" y="1335024"/>
            <a:ext cx="1115568" cy="914400"/>
          </a:xfrm>
          <a:prstGeom prst="roundRect">
            <a:avLst>
              <a:gd name="adj" fmla="val 6000"/>
            </a:avLst>
          </a:prstGeom>
          <a:solidFill>
            <a:srgbClr val="17221E"/>
          </a:solidFill>
          <a:ln w="6350">
            <a:solidFill>
              <a:srgbClr val="3D8A7A"/>
            </a:solidFill>
            <a:prstDash val="solid"/>
          </a:ln>
          <a:effectLst>
            <a:outerShdw sx="100000" sy="100000" kx="0" ky="0" algn="bl" rotWithShape="0" blurRad="101600" dist="25400" dir="2700000">
              <a:srgbClr val="000000">
                <a:alpha val="45000"/>
              </a:srgbClr>
            </a:outerShdw>
          </a:effectLst>
        </p:spPr>
      </p:sp>
      <p:sp>
        <p:nvSpPr>
          <p:cNvPr id="17" name="Text 15"/>
          <p:cNvSpPr/>
          <p:nvPr/>
        </p:nvSpPr>
        <p:spPr>
          <a:xfrm>
            <a:off x="2816352" y="1399032"/>
            <a:ext cx="1005840" cy="182880"/>
          </a:xfrm>
          <a:prstGeom prst="rect">
            <a:avLst/>
          </a:prstGeom>
          <a:noFill/>
          <a:ln/>
        </p:spPr>
        <p:txBody>
          <a:bodyPr wrap="square" lIns="0" tIns="0" rIns="0" bIns="0" rtlCol="0" anchor="ctr"/>
          <a:lstStyle/>
          <a:p>
            <a:pPr algn="ctr" indent="0" marL="0">
              <a:buNone/>
            </a:pPr>
            <a:r>
              <a:rPr lang="en-US" sz="750" dirty="0">
                <a:solidFill>
                  <a:srgbClr val="5EADA0"/>
                </a:solidFill>
                <a:latin typeface="Courier New" pitchFamily="34" charset="0"/>
                <a:ea typeface="Courier New" pitchFamily="34" charset="-122"/>
                <a:cs typeface="Courier New" pitchFamily="34" charset="-120"/>
              </a:rPr>
              <a:t>03</a:t>
            </a:r>
            <a:endParaRPr lang="en-US" sz="750" dirty="0"/>
          </a:p>
        </p:txBody>
      </p:sp>
      <p:sp>
        <p:nvSpPr>
          <p:cNvPr id="18" name="Text 16"/>
          <p:cNvSpPr/>
          <p:nvPr/>
        </p:nvSpPr>
        <p:spPr>
          <a:xfrm>
            <a:off x="2816352" y="1581912"/>
            <a:ext cx="1005840" cy="237744"/>
          </a:xfrm>
          <a:prstGeom prst="rect">
            <a:avLst/>
          </a:prstGeom>
          <a:noFill/>
          <a:ln/>
        </p:spPr>
        <p:txBody>
          <a:bodyPr wrap="square" lIns="0" tIns="0" rIns="0" bIns="0" rtlCol="0" anchor="ctr"/>
          <a:lstStyle/>
          <a:p>
            <a:pPr algn="ctr" indent="0" marL="0">
              <a:buNone/>
            </a:pPr>
            <a:r>
              <a:rPr lang="en-US" sz="950" b="1" dirty="0">
                <a:solidFill>
                  <a:srgbClr val="5EADA0"/>
                </a:solidFill>
                <a:latin typeface="Calibri" pitchFamily="34" charset="0"/>
                <a:ea typeface="Calibri" pitchFamily="34" charset="-122"/>
                <a:cs typeface="Calibri" pitchFamily="34" charset="-120"/>
              </a:rPr>
              <a:t>Process Mine</a:t>
            </a:r>
            <a:endParaRPr lang="en-US" sz="950" dirty="0"/>
          </a:p>
        </p:txBody>
      </p:sp>
      <p:sp>
        <p:nvSpPr>
          <p:cNvPr id="19" name="Text 17"/>
          <p:cNvSpPr/>
          <p:nvPr/>
        </p:nvSpPr>
        <p:spPr>
          <a:xfrm>
            <a:off x="2816352" y="1837944"/>
            <a:ext cx="1005840" cy="182880"/>
          </a:xfrm>
          <a:prstGeom prst="rect">
            <a:avLst/>
          </a:prstGeom>
          <a:noFill/>
          <a:ln/>
        </p:spPr>
        <p:txBody>
          <a:bodyPr wrap="square" lIns="0" tIns="0" rIns="0" bIns="0" rtlCol="0" anchor="ctr"/>
          <a:lstStyle/>
          <a:p>
            <a:pPr algn="ctr" indent="0" marL="0">
              <a:buNone/>
            </a:pPr>
            <a:r>
              <a:rPr lang="en-US" sz="800" dirty="0">
                <a:solidFill>
                  <a:srgbClr val="636363"/>
                </a:solidFill>
                <a:latin typeface="Calibri" pitchFamily="34" charset="0"/>
                <a:ea typeface="Calibri" pitchFamily="34" charset="-122"/>
                <a:cs typeface="Calibri" pitchFamily="34" charset="-120"/>
              </a:rPr>
              <a:t>OCEL 2.0</a:t>
            </a:r>
            <a:endParaRPr lang="en-US" sz="800" dirty="0"/>
          </a:p>
        </p:txBody>
      </p:sp>
      <p:sp>
        <p:nvSpPr>
          <p:cNvPr id="20" name="Text 18"/>
          <p:cNvSpPr/>
          <p:nvPr/>
        </p:nvSpPr>
        <p:spPr>
          <a:xfrm>
            <a:off x="3877056" y="1664208"/>
            <a:ext cx="146304" cy="256032"/>
          </a:xfrm>
          <a:prstGeom prst="rect">
            <a:avLst/>
          </a:prstGeom>
          <a:noFill/>
          <a:ln/>
        </p:spPr>
        <p:txBody>
          <a:bodyPr wrap="square" lIns="0" tIns="0" rIns="0" bIns="0" rtlCol="0" anchor="ctr"/>
          <a:lstStyle/>
          <a:p>
            <a:pPr algn="ctr" indent="0" marL="0">
              <a:buNone/>
            </a:pPr>
            <a:r>
              <a:rPr lang="en-US" sz="1100" dirty="0">
                <a:solidFill>
                  <a:srgbClr val="3A3A3A"/>
                </a:solidFill>
                <a:latin typeface="Calibri" pitchFamily="34" charset="0"/>
                <a:ea typeface="Calibri" pitchFamily="34" charset="-122"/>
                <a:cs typeface="Calibri" pitchFamily="34" charset="-120"/>
              </a:rPr>
              <a:t>→</a:t>
            </a:r>
            <a:endParaRPr lang="en-US" sz="1100" dirty="0"/>
          </a:p>
        </p:txBody>
      </p:sp>
      <p:sp>
        <p:nvSpPr>
          <p:cNvPr id="21" name="Shape 19"/>
          <p:cNvSpPr/>
          <p:nvPr/>
        </p:nvSpPr>
        <p:spPr>
          <a:xfrm>
            <a:off x="4014216" y="1335024"/>
            <a:ext cx="1115568" cy="914400"/>
          </a:xfrm>
          <a:prstGeom prst="roundRect">
            <a:avLst>
              <a:gd name="adj" fmla="val 6000"/>
            </a:avLst>
          </a:prstGeom>
          <a:solidFill>
            <a:srgbClr val="17221E"/>
          </a:solidFill>
          <a:ln w="6350">
            <a:solidFill>
              <a:srgbClr val="3D8A7A"/>
            </a:solidFill>
            <a:prstDash val="solid"/>
          </a:ln>
          <a:effectLst>
            <a:outerShdw sx="100000" sy="100000" kx="0" ky="0" algn="bl" rotWithShape="0" blurRad="101600" dist="25400" dir="2700000">
              <a:srgbClr val="000000">
                <a:alpha val="45000"/>
              </a:srgbClr>
            </a:outerShdw>
          </a:effectLst>
        </p:spPr>
      </p:sp>
      <p:sp>
        <p:nvSpPr>
          <p:cNvPr id="22" name="Text 20"/>
          <p:cNvSpPr/>
          <p:nvPr/>
        </p:nvSpPr>
        <p:spPr>
          <a:xfrm>
            <a:off x="4069080" y="1399032"/>
            <a:ext cx="1005840" cy="182880"/>
          </a:xfrm>
          <a:prstGeom prst="rect">
            <a:avLst/>
          </a:prstGeom>
          <a:noFill/>
          <a:ln/>
        </p:spPr>
        <p:txBody>
          <a:bodyPr wrap="square" lIns="0" tIns="0" rIns="0" bIns="0" rtlCol="0" anchor="ctr"/>
          <a:lstStyle/>
          <a:p>
            <a:pPr algn="ctr" indent="0" marL="0">
              <a:buNone/>
            </a:pPr>
            <a:r>
              <a:rPr lang="en-US" sz="750" dirty="0">
                <a:solidFill>
                  <a:srgbClr val="5EADA0"/>
                </a:solidFill>
                <a:latin typeface="Courier New" pitchFamily="34" charset="0"/>
                <a:ea typeface="Courier New" pitchFamily="34" charset="-122"/>
                <a:cs typeface="Courier New" pitchFamily="34" charset="-120"/>
              </a:rPr>
              <a:t>04</a:t>
            </a:r>
            <a:endParaRPr lang="en-US" sz="750" dirty="0"/>
          </a:p>
        </p:txBody>
      </p:sp>
      <p:sp>
        <p:nvSpPr>
          <p:cNvPr id="23" name="Text 21"/>
          <p:cNvSpPr/>
          <p:nvPr/>
        </p:nvSpPr>
        <p:spPr>
          <a:xfrm>
            <a:off x="4069080" y="1581912"/>
            <a:ext cx="1005840" cy="237744"/>
          </a:xfrm>
          <a:prstGeom prst="rect">
            <a:avLst/>
          </a:prstGeom>
          <a:noFill/>
          <a:ln/>
        </p:spPr>
        <p:txBody>
          <a:bodyPr wrap="square" lIns="0" tIns="0" rIns="0" bIns="0" rtlCol="0" anchor="ctr"/>
          <a:lstStyle/>
          <a:p>
            <a:pPr algn="ctr" indent="0" marL="0">
              <a:buNone/>
            </a:pPr>
            <a:r>
              <a:rPr lang="en-US" sz="950" b="1" dirty="0">
                <a:solidFill>
                  <a:srgbClr val="5EADA0"/>
                </a:solidFill>
                <a:latin typeface="Calibri" pitchFamily="34" charset="0"/>
                <a:ea typeface="Calibri" pitchFamily="34" charset="-122"/>
                <a:cs typeface="Calibri" pitchFamily="34" charset="-120"/>
              </a:rPr>
              <a:t>Carbon Calc</a:t>
            </a:r>
            <a:endParaRPr lang="en-US" sz="950" dirty="0"/>
          </a:p>
        </p:txBody>
      </p:sp>
      <p:sp>
        <p:nvSpPr>
          <p:cNvPr id="24" name="Text 22"/>
          <p:cNvSpPr/>
          <p:nvPr/>
        </p:nvSpPr>
        <p:spPr>
          <a:xfrm>
            <a:off x="4069080" y="1837944"/>
            <a:ext cx="1005840" cy="182880"/>
          </a:xfrm>
          <a:prstGeom prst="rect">
            <a:avLst/>
          </a:prstGeom>
          <a:noFill/>
          <a:ln/>
        </p:spPr>
        <p:txBody>
          <a:bodyPr wrap="square" lIns="0" tIns="0" rIns="0" bIns="0" rtlCol="0" anchor="ctr"/>
          <a:lstStyle/>
          <a:p>
            <a:pPr algn="ctr" indent="0" marL="0">
              <a:buNone/>
            </a:pPr>
            <a:r>
              <a:rPr lang="en-US" sz="800" dirty="0">
                <a:solidFill>
                  <a:srgbClr val="636363"/>
                </a:solidFill>
                <a:latin typeface="Calibri" pitchFamily="34" charset="0"/>
                <a:ea typeface="Calibri" pitchFamily="34" charset="-122"/>
                <a:cs typeface="Calibri" pitchFamily="34" charset="-120"/>
              </a:rPr>
              <a:t>Scope 3</a:t>
            </a:r>
            <a:endParaRPr lang="en-US" sz="800" dirty="0"/>
          </a:p>
        </p:txBody>
      </p:sp>
      <p:sp>
        <p:nvSpPr>
          <p:cNvPr id="25" name="Text 23"/>
          <p:cNvSpPr/>
          <p:nvPr/>
        </p:nvSpPr>
        <p:spPr>
          <a:xfrm>
            <a:off x="5129784" y="1664208"/>
            <a:ext cx="146304" cy="256032"/>
          </a:xfrm>
          <a:prstGeom prst="rect">
            <a:avLst/>
          </a:prstGeom>
          <a:noFill/>
          <a:ln/>
        </p:spPr>
        <p:txBody>
          <a:bodyPr wrap="square" lIns="0" tIns="0" rIns="0" bIns="0" rtlCol="0" anchor="ctr"/>
          <a:lstStyle/>
          <a:p>
            <a:pPr algn="ctr" indent="0" marL="0">
              <a:buNone/>
            </a:pPr>
            <a:r>
              <a:rPr lang="en-US" sz="1100" dirty="0">
                <a:solidFill>
                  <a:srgbClr val="3A3A3A"/>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5266944" y="1335024"/>
            <a:ext cx="1115568" cy="914400"/>
          </a:xfrm>
          <a:prstGeom prst="roundRect">
            <a:avLst>
              <a:gd name="adj" fmla="val 6000"/>
            </a:avLst>
          </a:prstGeom>
          <a:solidFill>
            <a:srgbClr val="17221E"/>
          </a:solidFill>
          <a:ln w="6350">
            <a:solidFill>
              <a:srgbClr val="3D8A7A"/>
            </a:solidFill>
            <a:prstDash val="solid"/>
          </a:ln>
          <a:effectLst>
            <a:outerShdw sx="100000" sy="100000" kx="0" ky="0" algn="bl" rotWithShape="0" blurRad="101600" dist="25400" dir="2700000">
              <a:srgbClr val="000000">
                <a:alpha val="45000"/>
              </a:srgbClr>
            </a:outerShdw>
          </a:effectLst>
        </p:spPr>
      </p:sp>
      <p:sp>
        <p:nvSpPr>
          <p:cNvPr id="27" name="Text 25"/>
          <p:cNvSpPr/>
          <p:nvPr/>
        </p:nvSpPr>
        <p:spPr>
          <a:xfrm>
            <a:off x="5321808" y="1399032"/>
            <a:ext cx="1005840" cy="182880"/>
          </a:xfrm>
          <a:prstGeom prst="rect">
            <a:avLst/>
          </a:prstGeom>
          <a:noFill/>
          <a:ln/>
        </p:spPr>
        <p:txBody>
          <a:bodyPr wrap="square" lIns="0" tIns="0" rIns="0" bIns="0" rtlCol="0" anchor="ctr"/>
          <a:lstStyle/>
          <a:p>
            <a:pPr algn="ctr" indent="0" marL="0">
              <a:buNone/>
            </a:pPr>
            <a:r>
              <a:rPr lang="en-US" sz="750" dirty="0">
                <a:solidFill>
                  <a:srgbClr val="5EADA0"/>
                </a:solidFill>
                <a:latin typeface="Courier New" pitchFamily="34" charset="0"/>
                <a:ea typeface="Courier New" pitchFamily="34" charset="-122"/>
                <a:cs typeface="Courier New" pitchFamily="34" charset="-120"/>
              </a:rPr>
              <a:t>05</a:t>
            </a:r>
            <a:endParaRPr lang="en-US" sz="750" dirty="0"/>
          </a:p>
        </p:txBody>
      </p:sp>
      <p:sp>
        <p:nvSpPr>
          <p:cNvPr id="28" name="Text 26"/>
          <p:cNvSpPr/>
          <p:nvPr/>
        </p:nvSpPr>
        <p:spPr>
          <a:xfrm>
            <a:off x="5321808" y="1581912"/>
            <a:ext cx="1005840" cy="237744"/>
          </a:xfrm>
          <a:prstGeom prst="rect">
            <a:avLst/>
          </a:prstGeom>
          <a:noFill/>
          <a:ln/>
        </p:spPr>
        <p:txBody>
          <a:bodyPr wrap="square" lIns="0" tIns="0" rIns="0" bIns="0" rtlCol="0" anchor="ctr"/>
          <a:lstStyle/>
          <a:p>
            <a:pPr algn="ctr" indent="0" marL="0">
              <a:buNone/>
            </a:pPr>
            <a:r>
              <a:rPr lang="en-US" sz="950" b="1" dirty="0">
                <a:solidFill>
                  <a:srgbClr val="5EADA0"/>
                </a:solidFill>
                <a:latin typeface="Calibri" pitchFamily="34" charset="0"/>
                <a:ea typeface="Calibri" pitchFamily="34" charset="-122"/>
                <a:cs typeface="Calibri" pitchFamily="34" charset="-120"/>
              </a:rPr>
              <a:t>Conformance</a:t>
            </a:r>
            <a:endParaRPr lang="en-US" sz="950" dirty="0"/>
          </a:p>
        </p:txBody>
      </p:sp>
      <p:sp>
        <p:nvSpPr>
          <p:cNvPr id="29" name="Text 27"/>
          <p:cNvSpPr/>
          <p:nvPr/>
        </p:nvSpPr>
        <p:spPr>
          <a:xfrm>
            <a:off x="5321808" y="1837944"/>
            <a:ext cx="1005840" cy="182880"/>
          </a:xfrm>
          <a:prstGeom prst="rect">
            <a:avLst/>
          </a:prstGeom>
          <a:noFill/>
          <a:ln/>
        </p:spPr>
        <p:txBody>
          <a:bodyPr wrap="square" lIns="0" tIns="0" rIns="0" bIns="0" rtlCol="0" anchor="ctr"/>
          <a:lstStyle/>
          <a:p>
            <a:pPr algn="ctr" indent="0" marL="0">
              <a:buNone/>
            </a:pPr>
            <a:r>
              <a:rPr lang="en-US" sz="800" dirty="0">
                <a:solidFill>
                  <a:srgbClr val="636363"/>
                </a:solidFill>
                <a:latin typeface="Calibri" pitchFamily="34" charset="0"/>
                <a:ea typeface="Calibri" pitchFamily="34" charset="-122"/>
                <a:cs typeface="Calibri" pitchFamily="34" charset="-120"/>
              </a:rPr>
              <a:t>Rule engine</a:t>
            </a:r>
            <a:endParaRPr lang="en-US" sz="800" dirty="0"/>
          </a:p>
        </p:txBody>
      </p:sp>
      <p:sp>
        <p:nvSpPr>
          <p:cNvPr id="30" name="Text 28"/>
          <p:cNvSpPr/>
          <p:nvPr/>
        </p:nvSpPr>
        <p:spPr>
          <a:xfrm>
            <a:off x="6382512" y="1664208"/>
            <a:ext cx="146304" cy="256032"/>
          </a:xfrm>
          <a:prstGeom prst="rect">
            <a:avLst/>
          </a:prstGeom>
          <a:noFill/>
          <a:ln/>
        </p:spPr>
        <p:txBody>
          <a:bodyPr wrap="square" lIns="0" tIns="0" rIns="0" bIns="0" rtlCol="0" anchor="ctr"/>
          <a:lstStyle/>
          <a:p>
            <a:pPr algn="ctr" indent="0" marL="0">
              <a:buNone/>
            </a:pPr>
            <a:r>
              <a:rPr lang="en-US" sz="1100" dirty="0">
                <a:solidFill>
                  <a:srgbClr val="3A3A3A"/>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6519672" y="1335024"/>
            <a:ext cx="1115568" cy="914400"/>
          </a:xfrm>
          <a:prstGeom prst="roundRect">
            <a:avLst>
              <a:gd name="adj" fmla="val 6000"/>
            </a:avLst>
          </a:prstGeom>
          <a:solidFill>
            <a:srgbClr val="17221E"/>
          </a:solidFill>
          <a:ln w="6350">
            <a:solidFill>
              <a:srgbClr val="3D8A7A"/>
            </a:solidFill>
            <a:prstDash val="solid"/>
          </a:ln>
          <a:effectLst>
            <a:outerShdw sx="100000" sy="100000" kx="0" ky="0" algn="bl" rotWithShape="0" blurRad="101600" dist="25400" dir="2700000">
              <a:srgbClr val="000000">
                <a:alpha val="45000"/>
              </a:srgbClr>
            </a:outerShdw>
          </a:effectLst>
        </p:spPr>
      </p:sp>
      <p:sp>
        <p:nvSpPr>
          <p:cNvPr id="32" name="Text 30"/>
          <p:cNvSpPr/>
          <p:nvPr/>
        </p:nvSpPr>
        <p:spPr>
          <a:xfrm>
            <a:off x="6574536" y="1399032"/>
            <a:ext cx="1005840" cy="182880"/>
          </a:xfrm>
          <a:prstGeom prst="rect">
            <a:avLst/>
          </a:prstGeom>
          <a:noFill/>
          <a:ln/>
        </p:spPr>
        <p:txBody>
          <a:bodyPr wrap="square" lIns="0" tIns="0" rIns="0" bIns="0" rtlCol="0" anchor="ctr"/>
          <a:lstStyle/>
          <a:p>
            <a:pPr algn="ctr" indent="0" marL="0">
              <a:buNone/>
            </a:pPr>
            <a:r>
              <a:rPr lang="en-US" sz="750" dirty="0">
                <a:solidFill>
                  <a:srgbClr val="5EADA0"/>
                </a:solidFill>
                <a:latin typeface="Courier New" pitchFamily="34" charset="0"/>
                <a:ea typeface="Courier New" pitchFamily="34" charset="-122"/>
                <a:cs typeface="Courier New" pitchFamily="34" charset="-120"/>
              </a:rPr>
              <a:t>06</a:t>
            </a:r>
            <a:endParaRPr lang="en-US" sz="750" dirty="0"/>
          </a:p>
        </p:txBody>
      </p:sp>
      <p:sp>
        <p:nvSpPr>
          <p:cNvPr id="33" name="Text 31"/>
          <p:cNvSpPr/>
          <p:nvPr/>
        </p:nvSpPr>
        <p:spPr>
          <a:xfrm>
            <a:off x="6574536" y="1581912"/>
            <a:ext cx="1005840" cy="237744"/>
          </a:xfrm>
          <a:prstGeom prst="rect">
            <a:avLst/>
          </a:prstGeom>
          <a:noFill/>
          <a:ln/>
        </p:spPr>
        <p:txBody>
          <a:bodyPr wrap="square" lIns="0" tIns="0" rIns="0" bIns="0" rtlCol="0" anchor="ctr"/>
          <a:lstStyle/>
          <a:p>
            <a:pPr algn="ctr" indent="0" marL="0">
              <a:buNone/>
            </a:pPr>
            <a:r>
              <a:rPr lang="en-US" sz="950" b="1" dirty="0">
                <a:solidFill>
                  <a:srgbClr val="5EADA0"/>
                </a:solidFill>
                <a:latin typeface="Calibri" pitchFamily="34" charset="0"/>
                <a:ea typeface="Calibri" pitchFamily="34" charset="-122"/>
                <a:cs typeface="Calibri" pitchFamily="34" charset="-120"/>
              </a:rPr>
              <a:t>Forecast</a:t>
            </a:r>
            <a:endParaRPr lang="en-US" sz="950" dirty="0"/>
          </a:p>
        </p:txBody>
      </p:sp>
      <p:sp>
        <p:nvSpPr>
          <p:cNvPr id="34" name="Text 32"/>
          <p:cNvSpPr/>
          <p:nvPr/>
        </p:nvSpPr>
        <p:spPr>
          <a:xfrm>
            <a:off x="6574536" y="1837944"/>
            <a:ext cx="1005840" cy="182880"/>
          </a:xfrm>
          <a:prstGeom prst="rect">
            <a:avLst/>
          </a:prstGeom>
          <a:noFill/>
          <a:ln/>
        </p:spPr>
        <p:txBody>
          <a:bodyPr wrap="square" lIns="0" tIns="0" rIns="0" bIns="0" rtlCol="0" anchor="ctr"/>
          <a:lstStyle/>
          <a:p>
            <a:pPr algn="ctr" indent="0" marL="0">
              <a:buNone/>
            </a:pPr>
            <a:r>
              <a:rPr lang="en-US" sz="800" dirty="0">
                <a:solidFill>
                  <a:srgbClr val="636363"/>
                </a:solidFill>
                <a:latin typeface="Calibri" pitchFamily="34" charset="0"/>
                <a:ea typeface="Calibri" pitchFamily="34" charset="-122"/>
                <a:cs typeface="Calibri" pitchFamily="34" charset="-120"/>
              </a:rPr>
              <a:t>4 baselines</a:t>
            </a:r>
            <a:endParaRPr lang="en-US" sz="800" dirty="0"/>
          </a:p>
        </p:txBody>
      </p:sp>
      <p:sp>
        <p:nvSpPr>
          <p:cNvPr id="35" name="Text 33"/>
          <p:cNvSpPr/>
          <p:nvPr/>
        </p:nvSpPr>
        <p:spPr>
          <a:xfrm>
            <a:off x="7635240" y="1664208"/>
            <a:ext cx="146304" cy="256032"/>
          </a:xfrm>
          <a:prstGeom prst="rect">
            <a:avLst/>
          </a:prstGeom>
          <a:noFill/>
          <a:ln/>
        </p:spPr>
        <p:txBody>
          <a:bodyPr wrap="square" lIns="0" tIns="0" rIns="0" bIns="0" rtlCol="0" anchor="ctr"/>
          <a:lstStyle/>
          <a:p>
            <a:pPr algn="ctr" indent="0" marL="0">
              <a:buNone/>
            </a:pPr>
            <a:r>
              <a:rPr lang="en-US" sz="1100" dirty="0">
                <a:solidFill>
                  <a:srgbClr val="3A3A3A"/>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7772400" y="1335024"/>
            <a:ext cx="1115568" cy="914400"/>
          </a:xfrm>
          <a:prstGeom prst="roundRect">
            <a:avLst>
              <a:gd name="adj" fmla="val 6000"/>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37" name="Text 35"/>
          <p:cNvSpPr/>
          <p:nvPr/>
        </p:nvSpPr>
        <p:spPr>
          <a:xfrm>
            <a:off x="7827264" y="1399032"/>
            <a:ext cx="1005840" cy="182880"/>
          </a:xfrm>
          <a:prstGeom prst="rect">
            <a:avLst/>
          </a:prstGeom>
          <a:noFill/>
          <a:ln/>
        </p:spPr>
        <p:txBody>
          <a:bodyPr wrap="square" lIns="0" tIns="0" rIns="0" bIns="0" rtlCol="0" anchor="ctr"/>
          <a:lstStyle/>
          <a:p>
            <a:pPr algn="ctr" indent="0" marL="0">
              <a:buNone/>
            </a:pPr>
            <a:r>
              <a:rPr lang="en-US" sz="750" dirty="0">
                <a:solidFill>
                  <a:srgbClr val="636363"/>
                </a:solidFill>
                <a:latin typeface="Courier New" pitchFamily="34" charset="0"/>
                <a:ea typeface="Courier New" pitchFamily="34" charset="-122"/>
                <a:cs typeface="Courier New" pitchFamily="34" charset="-120"/>
              </a:rPr>
              <a:t>07</a:t>
            </a:r>
            <a:endParaRPr lang="en-US" sz="750" dirty="0"/>
          </a:p>
        </p:txBody>
      </p:sp>
      <p:sp>
        <p:nvSpPr>
          <p:cNvPr id="38" name="Text 36"/>
          <p:cNvSpPr/>
          <p:nvPr/>
        </p:nvSpPr>
        <p:spPr>
          <a:xfrm>
            <a:off x="7827264" y="1581912"/>
            <a:ext cx="1005840" cy="237744"/>
          </a:xfrm>
          <a:prstGeom prst="rect">
            <a:avLst/>
          </a:prstGeom>
          <a:noFill/>
          <a:ln/>
        </p:spPr>
        <p:txBody>
          <a:bodyPr wrap="square" lIns="0" tIns="0" rIns="0" bIns="0" rtlCol="0" anchor="ctr"/>
          <a:lstStyle/>
          <a:p>
            <a:pPr algn="ctr" indent="0" marL="0">
              <a:buNone/>
            </a:pPr>
            <a:r>
              <a:rPr lang="en-US" sz="950" b="1" dirty="0">
                <a:solidFill>
                  <a:srgbClr val="C8C8C8"/>
                </a:solidFill>
                <a:latin typeface="Calibri" pitchFamily="34" charset="0"/>
                <a:ea typeface="Calibri" pitchFamily="34" charset="-122"/>
                <a:cs typeface="Calibri" pitchFamily="34" charset="-120"/>
              </a:rPr>
              <a:t>BRSR / ESG</a:t>
            </a:r>
            <a:endParaRPr lang="en-US" sz="950" dirty="0"/>
          </a:p>
        </p:txBody>
      </p:sp>
      <p:sp>
        <p:nvSpPr>
          <p:cNvPr id="39" name="Text 37"/>
          <p:cNvSpPr/>
          <p:nvPr/>
        </p:nvSpPr>
        <p:spPr>
          <a:xfrm>
            <a:off x="7827264" y="1837944"/>
            <a:ext cx="1005840" cy="182880"/>
          </a:xfrm>
          <a:prstGeom prst="rect">
            <a:avLst/>
          </a:prstGeom>
          <a:noFill/>
          <a:ln/>
        </p:spPr>
        <p:txBody>
          <a:bodyPr wrap="square" lIns="0" tIns="0" rIns="0" bIns="0" rtlCol="0" anchor="ctr"/>
          <a:lstStyle/>
          <a:p>
            <a:pPr algn="ctr" indent="0" marL="0">
              <a:buNone/>
            </a:pPr>
            <a:r>
              <a:rPr lang="en-US" sz="800" dirty="0">
                <a:solidFill>
                  <a:srgbClr val="636363"/>
                </a:solidFill>
                <a:latin typeface="Calibri" pitchFamily="34" charset="0"/>
                <a:ea typeface="Calibri" pitchFamily="34" charset="-122"/>
                <a:cs typeface="Calibri" pitchFamily="34" charset="-120"/>
              </a:rPr>
              <a:t>SHA-256</a:t>
            </a:r>
            <a:endParaRPr lang="en-US" sz="800" dirty="0"/>
          </a:p>
        </p:txBody>
      </p:sp>
      <p:sp>
        <p:nvSpPr>
          <p:cNvPr id="40" name="Shape 38"/>
          <p:cNvSpPr/>
          <p:nvPr/>
        </p:nvSpPr>
        <p:spPr>
          <a:xfrm>
            <a:off x="457200" y="2395728"/>
            <a:ext cx="8321040" cy="475488"/>
          </a:xfrm>
          <a:prstGeom prst="roundRect">
            <a:avLst>
              <a:gd name="adj" fmla="val 11538"/>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41" name="Text 39"/>
          <p:cNvSpPr/>
          <p:nvPr/>
        </p:nvSpPr>
        <p:spPr>
          <a:xfrm>
            <a:off x="621792" y="2468880"/>
            <a:ext cx="1097280" cy="310896"/>
          </a:xfrm>
          <a:prstGeom prst="rect">
            <a:avLst/>
          </a:prstGeom>
          <a:noFill/>
          <a:ln/>
        </p:spPr>
        <p:txBody>
          <a:bodyPr wrap="square" lIns="0" tIns="0" rIns="0" bIns="0" rtlCol="0" anchor="ctr"/>
          <a:lstStyle/>
          <a:p>
            <a:pPr algn="l" indent="0" marL="0">
              <a:buNone/>
            </a:pPr>
            <a:r>
              <a:rPr lang="en-US" sz="800" b="1" dirty="0">
                <a:solidFill>
                  <a:srgbClr val="5EADA0"/>
                </a:solidFill>
                <a:latin typeface="Courier New" pitchFamily="34" charset="0"/>
                <a:ea typeface="Courier New" pitchFamily="34" charset="-122"/>
                <a:cs typeface="Courier New" pitchFamily="34" charset="-120"/>
              </a:rPr>
              <a:t>FRONTEND</a:t>
            </a:r>
            <a:endParaRPr lang="en-US" sz="800" dirty="0"/>
          </a:p>
        </p:txBody>
      </p:sp>
      <p:sp>
        <p:nvSpPr>
          <p:cNvPr id="42" name="Text 40"/>
          <p:cNvSpPr/>
          <p:nvPr/>
        </p:nvSpPr>
        <p:spPr>
          <a:xfrm>
            <a:off x="1810512" y="2487168"/>
            <a:ext cx="6766560" cy="274320"/>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Next.js 16 · React 19 · TypeScript strict · Tailwind v4 · shadcn/ui · React Flow · Recharts</a:t>
            </a:r>
            <a:endParaRPr lang="en-US" sz="900" dirty="0"/>
          </a:p>
        </p:txBody>
      </p:sp>
      <p:sp>
        <p:nvSpPr>
          <p:cNvPr id="43" name="Shape 41"/>
          <p:cNvSpPr/>
          <p:nvPr/>
        </p:nvSpPr>
        <p:spPr>
          <a:xfrm>
            <a:off x="457200" y="2962656"/>
            <a:ext cx="8321040" cy="475488"/>
          </a:xfrm>
          <a:prstGeom prst="roundRect">
            <a:avLst>
              <a:gd name="adj" fmla="val 11538"/>
            </a:avLst>
          </a:prstGeom>
          <a:solidFill>
            <a:srgbClr val="161616"/>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44" name="Text 42"/>
          <p:cNvSpPr/>
          <p:nvPr/>
        </p:nvSpPr>
        <p:spPr>
          <a:xfrm>
            <a:off x="621792" y="3035808"/>
            <a:ext cx="1097280" cy="310896"/>
          </a:xfrm>
          <a:prstGeom prst="rect">
            <a:avLst/>
          </a:prstGeom>
          <a:noFill/>
          <a:ln/>
        </p:spPr>
        <p:txBody>
          <a:bodyPr wrap="square" lIns="0" tIns="0" rIns="0" bIns="0" rtlCol="0" anchor="ctr"/>
          <a:lstStyle/>
          <a:p>
            <a:pPr algn="l" indent="0" marL="0">
              <a:buNone/>
            </a:pPr>
            <a:r>
              <a:rPr lang="en-US" sz="800" b="1" dirty="0">
                <a:solidFill>
                  <a:srgbClr val="5EA87A"/>
                </a:solidFill>
                <a:latin typeface="Courier New" pitchFamily="34" charset="0"/>
                <a:ea typeface="Courier New" pitchFamily="34" charset="-122"/>
                <a:cs typeface="Courier New" pitchFamily="34" charset="-120"/>
              </a:rPr>
              <a:t>BACKEND</a:t>
            </a:r>
            <a:endParaRPr lang="en-US" sz="800" dirty="0"/>
          </a:p>
        </p:txBody>
      </p:sp>
      <p:sp>
        <p:nvSpPr>
          <p:cNvPr id="45" name="Text 43"/>
          <p:cNvSpPr/>
          <p:nvPr/>
        </p:nvSpPr>
        <p:spPr>
          <a:xfrm>
            <a:off x="1810512" y="3054096"/>
            <a:ext cx="6766560" cy="274320"/>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FastAPI · Python 3.11 · SQLAlchemy ORM · pandas vectorized · Custom OCEL 2.0 parser</a:t>
            </a:r>
            <a:endParaRPr lang="en-US" sz="900" dirty="0"/>
          </a:p>
        </p:txBody>
      </p:sp>
      <p:sp>
        <p:nvSpPr>
          <p:cNvPr id="46" name="Shape 44"/>
          <p:cNvSpPr/>
          <p:nvPr/>
        </p:nvSpPr>
        <p:spPr>
          <a:xfrm>
            <a:off x="457200" y="3529584"/>
            <a:ext cx="8321040" cy="475488"/>
          </a:xfrm>
          <a:prstGeom prst="roundRect">
            <a:avLst>
              <a:gd name="adj" fmla="val 11538"/>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47" name="Text 45"/>
          <p:cNvSpPr/>
          <p:nvPr/>
        </p:nvSpPr>
        <p:spPr>
          <a:xfrm>
            <a:off x="621792" y="3602736"/>
            <a:ext cx="1097280" cy="310896"/>
          </a:xfrm>
          <a:prstGeom prst="rect">
            <a:avLst/>
          </a:prstGeom>
          <a:noFill/>
          <a:ln/>
        </p:spPr>
        <p:txBody>
          <a:bodyPr wrap="square" lIns="0" tIns="0" rIns="0" bIns="0" rtlCol="0" anchor="ctr"/>
          <a:lstStyle/>
          <a:p>
            <a:pPr algn="l" indent="0" marL="0">
              <a:buNone/>
            </a:pPr>
            <a:r>
              <a:rPr lang="en-US" sz="800" b="1" dirty="0">
                <a:solidFill>
                  <a:srgbClr val="B89040"/>
                </a:solidFill>
                <a:latin typeface="Courier New" pitchFamily="34" charset="0"/>
                <a:ea typeface="Courier New" pitchFamily="34" charset="-122"/>
                <a:cs typeface="Courier New" pitchFamily="34" charset="-120"/>
              </a:rPr>
              <a:t>DATABASE</a:t>
            </a:r>
            <a:endParaRPr lang="en-US" sz="800" dirty="0"/>
          </a:p>
        </p:txBody>
      </p:sp>
      <p:sp>
        <p:nvSpPr>
          <p:cNvPr id="48" name="Text 46"/>
          <p:cNvSpPr/>
          <p:nvPr/>
        </p:nvSpPr>
        <p:spPr>
          <a:xfrm>
            <a:off x="1810512" y="3621024"/>
            <a:ext cx="6766560" cy="274320"/>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PostgreSQL (prod) · SQLite (local) · 6 tables: Org → Project → Workspace → AnalysisSnapshot · TeamMember · ConformanceRuleOverride</a:t>
            </a:r>
            <a:endParaRPr lang="en-US" sz="900" dirty="0"/>
          </a:p>
        </p:txBody>
      </p:sp>
      <p:sp>
        <p:nvSpPr>
          <p:cNvPr id="49" name="Shape 47"/>
          <p:cNvSpPr/>
          <p:nvPr/>
        </p:nvSpPr>
        <p:spPr>
          <a:xfrm>
            <a:off x="457200" y="4096512"/>
            <a:ext cx="8321040" cy="475488"/>
          </a:xfrm>
          <a:prstGeom prst="roundRect">
            <a:avLst>
              <a:gd name="adj" fmla="val 11538"/>
            </a:avLst>
          </a:prstGeom>
          <a:solidFill>
            <a:srgbClr val="161616"/>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50" name="Text 48"/>
          <p:cNvSpPr/>
          <p:nvPr/>
        </p:nvSpPr>
        <p:spPr>
          <a:xfrm>
            <a:off x="621792" y="4169664"/>
            <a:ext cx="1097280" cy="310896"/>
          </a:xfrm>
          <a:prstGeom prst="rect">
            <a:avLst/>
          </a:prstGeom>
          <a:noFill/>
          <a:ln/>
        </p:spPr>
        <p:txBody>
          <a:bodyPr wrap="square" lIns="0" tIns="0" rIns="0" bIns="0" rtlCol="0" anchor="ctr"/>
          <a:lstStyle/>
          <a:p>
            <a:pPr algn="l" indent="0" marL="0">
              <a:buNone/>
            </a:pPr>
            <a:r>
              <a:rPr lang="en-US" sz="800" b="1" dirty="0">
                <a:solidFill>
                  <a:srgbClr val="636363"/>
                </a:solidFill>
                <a:latin typeface="Courier New" pitchFamily="34" charset="0"/>
                <a:ea typeface="Courier New" pitchFamily="34" charset="-122"/>
                <a:cs typeface="Courier New" pitchFamily="34" charset="-120"/>
              </a:rPr>
              <a:t>AI COPILOT</a:t>
            </a:r>
            <a:endParaRPr lang="en-US" sz="800" dirty="0"/>
          </a:p>
        </p:txBody>
      </p:sp>
      <p:sp>
        <p:nvSpPr>
          <p:cNvPr id="51" name="Text 49"/>
          <p:cNvSpPr/>
          <p:nvPr/>
        </p:nvSpPr>
        <p:spPr>
          <a:xfrm>
            <a:off x="1810512" y="4187952"/>
            <a:ext cx="6766560" cy="274320"/>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Ollama local inference · Multi-model switching · Zero cloud dependency · Data never leaves the machine</a:t>
            </a:r>
            <a:endParaRPr lang="en-US" sz="900" dirty="0"/>
          </a:p>
        </p:txBody>
      </p:sp>
      <p:sp>
        <p:nvSpPr>
          <p:cNvPr id="52" name="Text 50"/>
          <p:cNvSpPr/>
          <p:nvPr/>
        </p:nvSpPr>
        <p:spPr>
          <a:xfrm>
            <a:off x="457200" y="4754880"/>
            <a:ext cx="8321040" cy="201168"/>
          </a:xfrm>
          <a:prstGeom prst="rect">
            <a:avLst/>
          </a:prstGeom>
          <a:noFill/>
          <a:ln/>
        </p:spPr>
        <p:txBody>
          <a:bodyPr wrap="square" lIns="0" tIns="0" rIns="0" bIns="0" rtlCol="0" anchor="ctr"/>
          <a:lstStyle/>
          <a:p>
            <a:pPr algn="ctr" indent="0" marL="0">
              <a:buNone/>
            </a:pPr>
            <a:r>
              <a:rPr lang="en-US" sz="800" dirty="0">
                <a:solidFill>
                  <a:srgbClr val="3A3A3A"/>
                </a:solidFill>
                <a:latin typeface="Courier New" pitchFamily="34" charset="0"/>
                <a:ea typeface="Courier New" pitchFamily="34" charset="-122"/>
                <a:cs typeface="Courier New" pitchFamily="34" charset="-120"/>
              </a:rPr>
              <a:t>Multi-tenant hierarchy: Organization → Project → Workspace → AnalysisSnapshot  ·  Cascade deletes enforced at DB level  ·  40/40 tests passing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37744"/>
            <a:ext cx="6400800" cy="182880"/>
          </a:xfrm>
          <a:prstGeom prst="rect">
            <a:avLst/>
          </a:prstGeom>
          <a:noFill/>
          <a:ln/>
        </p:spPr>
        <p:txBody>
          <a:bodyPr wrap="square" lIns="0" tIns="0" rIns="0" bIns="0" rtlCol="0" anchor="ctr"/>
          <a:lstStyle/>
          <a:p>
            <a:pPr algn="l" indent="0" marL="0">
              <a:buNone/>
            </a:pPr>
            <a:r>
              <a:rPr lang="en-US" sz="750" spc="200" kern="0" dirty="0">
                <a:solidFill>
                  <a:srgbClr val="5EADA0"/>
                </a:solidFill>
                <a:latin typeface="Courier New" pitchFamily="34" charset="0"/>
                <a:ea typeface="Courier New" pitchFamily="34" charset="-122"/>
                <a:cs typeface="Courier New" pitchFamily="34" charset="-120"/>
              </a:rPr>
              <a:t>03  /  TECHNICAL APPROACH</a:t>
            </a:r>
            <a:endParaRPr lang="en-US" sz="750" dirty="0"/>
          </a:p>
        </p:txBody>
      </p:sp>
      <p:sp>
        <p:nvSpPr>
          <p:cNvPr id="3" name="Text 1"/>
          <p:cNvSpPr/>
          <p:nvPr/>
        </p:nvSpPr>
        <p:spPr>
          <a:xfrm>
            <a:off x="457200" y="438912"/>
            <a:ext cx="8229600" cy="475488"/>
          </a:xfrm>
          <a:prstGeom prst="rect">
            <a:avLst/>
          </a:prstGeom>
          <a:noFill/>
          <a:ln/>
        </p:spPr>
        <p:txBody>
          <a:bodyPr wrap="square" lIns="0" tIns="0" rIns="0" bIns="0" rtlCol="0" anchor="ctr"/>
          <a:lstStyle/>
          <a:p>
            <a:pPr algn="l" indent="0" marL="0">
              <a:buNone/>
            </a:pPr>
            <a:r>
              <a:rPr lang="en-US" sz="2400" b="1" dirty="0">
                <a:solidFill>
                  <a:srgbClr val="E8E8E8"/>
                </a:solidFill>
                <a:latin typeface="Calibri" pitchFamily="34" charset="0"/>
                <a:ea typeface="Calibri" pitchFamily="34" charset="-122"/>
                <a:cs typeface="Calibri" pitchFamily="34" charset="-120"/>
              </a:rPr>
              <a:t>Multi-Baseline Forecasting Engine</a:t>
            </a:r>
            <a:endParaRPr lang="en-US" sz="2400" dirty="0"/>
          </a:p>
        </p:txBody>
      </p:sp>
      <p:sp>
        <p:nvSpPr>
          <p:cNvPr id="4" name="Shape 2"/>
          <p:cNvSpPr/>
          <p:nvPr/>
        </p:nvSpPr>
        <p:spPr>
          <a:xfrm>
            <a:off x="457200" y="969264"/>
            <a:ext cx="8229600" cy="0"/>
          </a:xfrm>
          <a:prstGeom prst="line">
            <a:avLst/>
          </a:prstGeom>
          <a:noFill/>
          <a:ln w="6350">
            <a:solidFill>
              <a:srgbClr val="2E2E2E"/>
            </a:solidFill>
            <a:prstDash val="solid"/>
          </a:ln>
        </p:spPr>
      </p:sp>
      <p:pic>
        <p:nvPicPr>
          <p:cNvPr id="5" name="Image 0" descr="preencoded.png">    </p:cNvPr>
          <p:cNvPicPr>
            <a:picLocks noChangeAspect="1"/>
          </p:cNvPicPr>
          <p:nvPr/>
        </p:nvPicPr>
        <p:blipFill>
          <a:blip r:embed="rId1"/>
          <a:stretch>
            <a:fillRect/>
          </a:stretch>
        </p:blipFill>
        <p:spPr>
          <a:xfrm>
            <a:off x="365760" y="1060704"/>
            <a:ext cx="5029200" cy="2048256"/>
          </a:xfrm>
          <a:prstGeom prst="rect">
            <a:avLst/>
          </a:prstGeom>
          <a:effectLst>
            <a:outerShdw sx="100000" sy="100000" kx="0" ky="0" algn="bl" rotWithShape="0" blurRad="101600" dist="25400" dir="2700000">
              <a:srgbClr val="000000">
                <a:alpha val="45000"/>
              </a:srgbClr>
            </a:outerShdw>
          </a:effectLst>
        </p:spPr>
      </p:pic>
      <p:sp>
        <p:nvSpPr>
          <p:cNvPr id="6" name="Text 3"/>
          <p:cNvSpPr/>
          <p:nvPr/>
        </p:nvSpPr>
        <p:spPr>
          <a:xfrm>
            <a:off x="365760" y="3127248"/>
            <a:ext cx="5029200" cy="182880"/>
          </a:xfrm>
          <a:prstGeom prst="rect">
            <a:avLst/>
          </a:prstGeom>
          <a:noFill/>
          <a:ln/>
        </p:spPr>
        <p:txBody>
          <a:bodyPr wrap="square" lIns="0" tIns="0" rIns="0" bIns="0" rtlCol="0" anchor="ctr"/>
          <a:lstStyle/>
          <a:p>
            <a:pPr algn="ctr" indent="0" marL="0">
              <a:buNone/>
            </a:pPr>
            <a:r>
              <a:rPr lang="en-US" sz="750" i="1" dirty="0">
                <a:solidFill>
                  <a:srgbClr val="3A3A3A"/>
                </a:solidFill>
                <a:latin typeface="Calibri" pitchFamily="34" charset="0"/>
                <a:ea typeface="Calibri" pitchFamily="34" charset="-122"/>
                <a:cs typeface="Calibri" pitchFamily="34" charset="-120"/>
              </a:rPr>
              <a:t>Live platform — /forecasting  ·  LinearTrend selected as Best Fit</a:t>
            </a:r>
            <a:endParaRPr lang="en-US" sz="750" dirty="0"/>
          </a:p>
        </p:txBody>
      </p:sp>
      <p:sp>
        <p:nvSpPr>
          <p:cNvPr id="7" name="Shape 4"/>
          <p:cNvSpPr/>
          <p:nvPr/>
        </p:nvSpPr>
        <p:spPr>
          <a:xfrm>
            <a:off x="5577840" y="1060704"/>
            <a:ext cx="3246120" cy="713232"/>
          </a:xfrm>
          <a:prstGeom prst="roundRect">
            <a:avLst>
              <a:gd name="adj" fmla="val 7692"/>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8" name="Text 5"/>
          <p:cNvSpPr/>
          <p:nvPr/>
        </p:nvSpPr>
        <p:spPr>
          <a:xfrm>
            <a:off x="5742432" y="1133856"/>
            <a:ext cx="2194560" cy="237744"/>
          </a:xfrm>
          <a:prstGeom prst="rect">
            <a:avLst/>
          </a:prstGeom>
          <a:noFill/>
          <a:ln/>
        </p:spPr>
        <p:txBody>
          <a:bodyPr wrap="square" lIns="0" tIns="0" rIns="0" bIns="0" rtlCol="0" anchor="ctr"/>
          <a:lstStyle/>
          <a:p>
            <a:pPr algn="l" indent="0" marL="0">
              <a:buNone/>
            </a:pPr>
            <a:r>
              <a:rPr lang="en-US" sz="1100" b="1" dirty="0">
                <a:solidFill>
                  <a:srgbClr val="636363"/>
                </a:solidFill>
                <a:latin typeface="Courier New" pitchFamily="34" charset="0"/>
                <a:ea typeface="Courier New" pitchFamily="34" charset="-122"/>
                <a:cs typeface="Courier New" pitchFamily="34" charset="-120"/>
              </a:rPr>
              <a:t>Naive</a:t>
            </a:r>
            <a:endParaRPr lang="en-US" sz="1100" dirty="0"/>
          </a:p>
        </p:txBody>
      </p:sp>
      <p:sp>
        <p:nvSpPr>
          <p:cNvPr id="9" name="Text 6"/>
          <p:cNvSpPr/>
          <p:nvPr/>
        </p:nvSpPr>
        <p:spPr>
          <a:xfrm>
            <a:off x="5742432" y="1371600"/>
            <a:ext cx="2377440" cy="182880"/>
          </a:xfrm>
          <a:prstGeom prst="rect">
            <a:avLst/>
          </a:prstGeom>
          <a:noFill/>
          <a:ln/>
        </p:spPr>
        <p:txBody>
          <a:bodyPr wrap="square" lIns="0" tIns="0" rIns="0" bIns="0" rtlCol="0" anchor="ctr"/>
          <a:lstStyle/>
          <a:p>
            <a:pPr algn="l" indent="0" marL="0">
              <a:buNone/>
            </a:pPr>
            <a:r>
              <a:rPr lang="en-US" sz="850" dirty="0">
                <a:solidFill>
                  <a:srgbClr val="636363"/>
                </a:solidFill>
                <a:latin typeface="Calibri" pitchFamily="34" charset="0"/>
                <a:ea typeface="Calibri" pitchFamily="34" charset="-122"/>
                <a:cs typeface="Calibri" pitchFamily="34" charset="-120"/>
              </a:rPr>
              <a:t>MAE 133.9 kg CO₂e</a:t>
            </a:r>
            <a:endParaRPr lang="en-US" sz="850" dirty="0"/>
          </a:p>
        </p:txBody>
      </p:sp>
      <p:sp>
        <p:nvSpPr>
          <p:cNvPr id="10" name="Text 7"/>
          <p:cNvSpPr/>
          <p:nvPr/>
        </p:nvSpPr>
        <p:spPr>
          <a:xfrm>
            <a:off x="5742432" y="1554480"/>
            <a:ext cx="2926080" cy="164592"/>
          </a:xfrm>
          <a:prstGeom prst="rect">
            <a:avLst/>
          </a:prstGeom>
          <a:noFill/>
          <a:ln/>
        </p:spPr>
        <p:txBody>
          <a:bodyPr wrap="square" lIns="0" tIns="0" rIns="0" bIns="0" rtlCol="0" anchor="ctr"/>
          <a:lstStyle/>
          <a:p>
            <a:pPr algn="l" indent="0" marL="0">
              <a:buNone/>
            </a:pPr>
            <a:r>
              <a:rPr lang="en-US" sz="800" dirty="0">
                <a:solidFill>
                  <a:srgbClr val="636363"/>
                </a:solidFill>
                <a:latin typeface="Calibri" pitchFamily="34" charset="0"/>
                <a:ea typeface="Calibri" pitchFamily="34" charset="-122"/>
                <a:cs typeface="Calibri" pitchFamily="34" charset="-120"/>
              </a:rPr>
              <a:t>Last observed value. Sanity baseline.</a:t>
            </a:r>
            <a:endParaRPr lang="en-US" sz="800" dirty="0"/>
          </a:p>
        </p:txBody>
      </p:sp>
      <p:sp>
        <p:nvSpPr>
          <p:cNvPr id="11" name="Shape 8"/>
          <p:cNvSpPr/>
          <p:nvPr/>
        </p:nvSpPr>
        <p:spPr>
          <a:xfrm>
            <a:off x="5577840" y="1901952"/>
            <a:ext cx="3246120" cy="713232"/>
          </a:xfrm>
          <a:prstGeom prst="roundRect">
            <a:avLst>
              <a:gd name="adj" fmla="val 7692"/>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2" name="Text 9"/>
          <p:cNvSpPr/>
          <p:nvPr/>
        </p:nvSpPr>
        <p:spPr>
          <a:xfrm>
            <a:off x="5742432" y="1975104"/>
            <a:ext cx="2194560" cy="237744"/>
          </a:xfrm>
          <a:prstGeom prst="rect">
            <a:avLst/>
          </a:prstGeom>
          <a:noFill/>
          <a:ln/>
        </p:spPr>
        <p:txBody>
          <a:bodyPr wrap="square" lIns="0" tIns="0" rIns="0" bIns="0" rtlCol="0" anchor="ctr"/>
          <a:lstStyle/>
          <a:p>
            <a:pPr algn="l" indent="0" marL="0">
              <a:buNone/>
            </a:pPr>
            <a:r>
              <a:rPr lang="en-US" sz="1100" b="1" dirty="0">
                <a:solidFill>
                  <a:srgbClr val="636363"/>
                </a:solidFill>
                <a:latin typeface="Courier New" pitchFamily="34" charset="0"/>
                <a:ea typeface="Courier New" pitchFamily="34" charset="-122"/>
                <a:cs typeface="Courier New" pitchFamily="34" charset="-120"/>
              </a:rPr>
              <a:t>MovingAverage3</a:t>
            </a:r>
            <a:endParaRPr lang="en-US" sz="1100" dirty="0"/>
          </a:p>
        </p:txBody>
      </p:sp>
      <p:sp>
        <p:nvSpPr>
          <p:cNvPr id="13" name="Text 10"/>
          <p:cNvSpPr/>
          <p:nvPr/>
        </p:nvSpPr>
        <p:spPr>
          <a:xfrm>
            <a:off x="5742432" y="2212848"/>
            <a:ext cx="2377440" cy="182880"/>
          </a:xfrm>
          <a:prstGeom prst="rect">
            <a:avLst/>
          </a:prstGeom>
          <a:noFill/>
          <a:ln/>
        </p:spPr>
        <p:txBody>
          <a:bodyPr wrap="square" lIns="0" tIns="0" rIns="0" bIns="0" rtlCol="0" anchor="ctr"/>
          <a:lstStyle/>
          <a:p>
            <a:pPr algn="l" indent="0" marL="0">
              <a:buNone/>
            </a:pPr>
            <a:r>
              <a:rPr lang="en-US" sz="850" dirty="0">
                <a:solidFill>
                  <a:srgbClr val="636363"/>
                </a:solidFill>
                <a:latin typeface="Calibri" pitchFamily="34" charset="0"/>
                <a:ea typeface="Calibri" pitchFamily="34" charset="-122"/>
                <a:cs typeface="Calibri" pitchFamily="34" charset="-120"/>
              </a:rPr>
              <a:t>MAE 127.8 kg CO₂e</a:t>
            </a:r>
            <a:endParaRPr lang="en-US" sz="850" dirty="0"/>
          </a:p>
        </p:txBody>
      </p:sp>
      <p:sp>
        <p:nvSpPr>
          <p:cNvPr id="14" name="Text 11"/>
          <p:cNvSpPr/>
          <p:nvPr/>
        </p:nvSpPr>
        <p:spPr>
          <a:xfrm>
            <a:off x="5742432" y="2395728"/>
            <a:ext cx="2926080" cy="164592"/>
          </a:xfrm>
          <a:prstGeom prst="rect">
            <a:avLst/>
          </a:prstGeom>
          <a:noFill/>
          <a:ln/>
        </p:spPr>
        <p:txBody>
          <a:bodyPr wrap="square" lIns="0" tIns="0" rIns="0" bIns="0" rtlCol="0" anchor="ctr"/>
          <a:lstStyle/>
          <a:p>
            <a:pPr algn="l" indent="0" marL="0">
              <a:buNone/>
            </a:pPr>
            <a:r>
              <a:rPr lang="en-US" sz="800" dirty="0">
                <a:solidFill>
                  <a:srgbClr val="636363"/>
                </a:solidFill>
                <a:latin typeface="Calibri" pitchFamily="34" charset="0"/>
                <a:ea typeface="Calibri" pitchFamily="34" charset="-122"/>
                <a:cs typeface="Calibri" pitchFamily="34" charset="-120"/>
              </a:rPr>
              <a:t>3-month rolling average.</a:t>
            </a:r>
            <a:endParaRPr lang="en-US" sz="800" dirty="0"/>
          </a:p>
        </p:txBody>
      </p:sp>
      <p:sp>
        <p:nvSpPr>
          <p:cNvPr id="15" name="Shape 12"/>
          <p:cNvSpPr/>
          <p:nvPr/>
        </p:nvSpPr>
        <p:spPr>
          <a:xfrm>
            <a:off x="5577840" y="2743200"/>
            <a:ext cx="3246120" cy="713232"/>
          </a:xfrm>
          <a:prstGeom prst="roundRect">
            <a:avLst>
              <a:gd name="adj" fmla="val 7692"/>
            </a:avLst>
          </a:prstGeom>
          <a:solidFill>
            <a:srgbClr val="121E1B"/>
          </a:solidFill>
          <a:ln w="6350">
            <a:solidFill>
              <a:srgbClr val="3D8A7A"/>
            </a:solidFill>
            <a:prstDash val="solid"/>
          </a:ln>
          <a:effectLst>
            <a:outerShdw sx="100000" sy="100000" kx="0" ky="0" algn="bl" rotWithShape="0" blurRad="101600" dist="25400" dir="2700000">
              <a:srgbClr val="000000">
                <a:alpha val="45000"/>
              </a:srgbClr>
            </a:outerShdw>
          </a:effectLst>
        </p:spPr>
      </p:sp>
      <p:sp>
        <p:nvSpPr>
          <p:cNvPr id="16" name="Shape 13"/>
          <p:cNvSpPr/>
          <p:nvPr/>
        </p:nvSpPr>
        <p:spPr>
          <a:xfrm>
            <a:off x="8046720" y="2816352"/>
            <a:ext cx="658368" cy="201168"/>
          </a:xfrm>
          <a:prstGeom prst="roundRect">
            <a:avLst>
              <a:gd name="adj" fmla="val 27273"/>
            </a:avLst>
          </a:prstGeom>
          <a:solidFill>
            <a:srgbClr val="1A3028"/>
          </a:solidFill>
          <a:ln w="6350">
            <a:solidFill>
              <a:srgbClr val="3D8A7A"/>
            </a:solidFill>
            <a:prstDash val="solid"/>
          </a:ln>
          <a:effectLst>
            <a:outerShdw sx="100000" sy="100000" kx="0" ky="0" algn="bl" rotWithShape="0" blurRad="101600" dist="25400" dir="2700000">
              <a:srgbClr val="000000">
                <a:alpha val="45000"/>
              </a:srgbClr>
            </a:outerShdw>
          </a:effectLst>
        </p:spPr>
      </p:sp>
      <p:sp>
        <p:nvSpPr>
          <p:cNvPr id="17" name="Text 14"/>
          <p:cNvSpPr/>
          <p:nvPr/>
        </p:nvSpPr>
        <p:spPr>
          <a:xfrm>
            <a:off x="8046720" y="2816352"/>
            <a:ext cx="658368" cy="201168"/>
          </a:xfrm>
          <a:prstGeom prst="rect">
            <a:avLst/>
          </a:prstGeom>
          <a:noFill/>
          <a:ln/>
        </p:spPr>
        <p:txBody>
          <a:bodyPr wrap="square" lIns="0" tIns="0" rIns="0" bIns="0" rtlCol="0" anchor="ctr"/>
          <a:lstStyle/>
          <a:p>
            <a:pPr algn="ctr" indent="0" marL="0">
              <a:buNone/>
            </a:pPr>
            <a:r>
              <a:rPr lang="en-US" sz="700" dirty="0">
                <a:solidFill>
                  <a:srgbClr val="5EADA0"/>
                </a:solidFill>
                <a:latin typeface="Courier New" pitchFamily="34" charset="0"/>
                <a:ea typeface="Courier New" pitchFamily="34" charset="-122"/>
                <a:cs typeface="Courier New" pitchFamily="34" charset="-120"/>
              </a:rPr>
              <a:t>BEST</a:t>
            </a:r>
            <a:endParaRPr lang="en-US" sz="700" dirty="0"/>
          </a:p>
        </p:txBody>
      </p:sp>
      <p:sp>
        <p:nvSpPr>
          <p:cNvPr id="18" name="Text 15"/>
          <p:cNvSpPr/>
          <p:nvPr/>
        </p:nvSpPr>
        <p:spPr>
          <a:xfrm>
            <a:off x="5742432" y="2816352"/>
            <a:ext cx="2194560" cy="237744"/>
          </a:xfrm>
          <a:prstGeom prst="rect">
            <a:avLst/>
          </a:prstGeom>
          <a:noFill/>
          <a:ln/>
        </p:spPr>
        <p:txBody>
          <a:bodyPr wrap="square" lIns="0" tIns="0" rIns="0" bIns="0" rtlCol="0" anchor="ctr"/>
          <a:lstStyle/>
          <a:p>
            <a:pPr algn="l" indent="0" marL="0">
              <a:buNone/>
            </a:pPr>
            <a:r>
              <a:rPr lang="en-US" sz="1100" b="1" dirty="0">
                <a:solidFill>
                  <a:srgbClr val="5EADA0"/>
                </a:solidFill>
                <a:latin typeface="Courier New" pitchFamily="34" charset="0"/>
                <a:ea typeface="Courier New" pitchFamily="34" charset="-122"/>
                <a:cs typeface="Courier New" pitchFamily="34" charset="-120"/>
              </a:rPr>
              <a:t>LinearTrend</a:t>
            </a:r>
            <a:endParaRPr lang="en-US" sz="1100" dirty="0"/>
          </a:p>
        </p:txBody>
      </p:sp>
      <p:sp>
        <p:nvSpPr>
          <p:cNvPr id="19" name="Text 16"/>
          <p:cNvSpPr/>
          <p:nvPr/>
        </p:nvSpPr>
        <p:spPr>
          <a:xfrm>
            <a:off x="5742432" y="3054096"/>
            <a:ext cx="2377440" cy="182880"/>
          </a:xfrm>
          <a:prstGeom prst="rect">
            <a:avLst/>
          </a:prstGeom>
          <a:noFill/>
          <a:ln/>
        </p:spPr>
        <p:txBody>
          <a:bodyPr wrap="square" lIns="0" tIns="0" rIns="0" bIns="0" rtlCol="0" anchor="ctr"/>
          <a:lstStyle/>
          <a:p>
            <a:pPr algn="l" indent="0" marL="0">
              <a:buNone/>
            </a:pPr>
            <a:r>
              <a:rPr lang="en-US" sz="850" dirty="0">
                <a:solidFill>
                  <a:srgbClr val="5EADA0"/>
                </a:solidFill>
                <a:latin typeface="Calibri" pitchFamily="34" charset="0"/>
                <a:ea typeface="Calibri" pitchFamily="34" charset="-122"/>
                <a:cs typeface="Calibri" pitchFamily="34" charset="-120"/>
              </a:rPr>
              <a:t>MAE 126.2 kg CO₂e</a:t>
            </a:r>
            <a:endParaRPr lang="en-US" sz="850" dirty="0"/>
          </a:p>
        </p:txBody>
      </p:sp>
      <p:sp>
        <p:nvSpPr>
          <p:cNvPr id="20" name="Text 17"/>
          <p:cNvSpPr/>
          <p:nvPr/>
        </p:nvSpPr>
        <p:spPr>
          <a:xfrm>
            <a:off x="5742432" y="3236976"/>
            <a:ext cx="2926080" cy="164592"/>
          </a:xfrm>
          <a:prstGeom prst="rect">
            <a:avLst/>
          </a:prstGeom>
          <a:noFill/>
          <a:ln/>
        </p:spPr>
        <p:txBody>
          <a:bodyPr wrap="square" lIns="0" tIns="0" rIns="0" bIns="0" rtlCol="0" anchor="ctr"/>
          <a:lstStyle/>
          <a:p>
            <a:pPr algn="l" indent="0" marL="0">
              <a:buNone/>
            </a:pPr>
            <a:r>
              <a:rPr lang="en-US" sz="800" dirty="0">
                <a:solidFill>
                  <a:srgbClr val="636363"/>
                </a:solidFill>
                <a:latin typeface="Calibri" pitchFamily="34" charset="0"/>
                <a:ea typeface="Calibri" pitchFamily="34" charset="-122"/>
                <a:cs typeface="Calibri" pitchFamily="34" charset="-120"/>
              </a:rPr>
              <a:t>OLS regression. Best fit on real demo data.</a:t>
            </a:r>
            <a:endParaRPr lang="en-US" sz="800" dirty="0"/>
          </a:p>
        </p:txBody>
      </p:sp>
      <p:sp>
        <p:nvSpPr>
          <p:cNvPr id="21" name="Shape 18"/>
          <p:cNvSpPr/>
          <p:nvPr/>
        </p:nvSpPr>
        <p:spPr>
          <a:xfrm>
            <a:off x="5577840" y="3584448"/>
            <a:ext cx="3246120" cy="713232"/>
          </a:xfrm>
          <a:prstGeom prst="roundRect">
            <a:avLst>
              <a:gd name="adj" fmla="val 7692"/>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2" name="Text 19"/>
          <p:cNvSpPr/>
          <p:nvPr/>
        </p:nvSpPr>
        <p:spPr>
          <a:xfrm>
            <a:off x="5742432" y="3657600"/>
            <a:ext cx="2194560" cy="237744"/>
          </a:xfrm>
          <a:prstGeom prst="rect">
            <a:avLst/>
          </a:prstGeom>
          <a:noFill/>
          <a:ln/>
        </p:spPr>
        <p:txBody>
          <a:bodyPr wrap="square" lIns="0" tIns="0" rIns="0" bIns="0" rtlCol="0" anchor="ctr"/>
          <a:lstStyle/>
          <a:p>
            <a:pPr algn="l" indent="0" marL="0">
              <a:buNone/>
            </a:pPr>
            <a:r>
              <a:rPr lang="en-US" sz="1100" b="1" dirty="0">
                <a:solidFill>
                  <a:srgbClr val="B89040"/>
                </a:solidFill>
                <a:latin typeface="Courier New" pitchFamily="34" charset="0"/>
                <a:ea typeface="Courier New" pitchFamily="34" charset="-122"/>
                <a:cs typeface="Courier New" pitchFamily="34" charset="-120"/>
              </a:rPr>
              <a:t>SeasonalNaive</a:t>
            </a:r>
            <a:endParaRPr lang="en-US" sz="1100" dirty="0"/>
          </a:p>
        </p:txBody>
      </p:sp>
      <p:sp>
        <p:nvSpPr>
          <p:cNvPr id="23" name="Text 20"/>
          <p:cNvSpPr/>
          <p:nvPr/>
        </p:nvSpPr>
        <p:spPr>
          <a:xfrm>
            <a:off x="5742432" y="3895344"/>
            <a:ext cx="2377440" cy="182880"/>
          </a:xfrm>
          <a:prstGeom prst="rect">
            <a:avLst/>
          </a:prstGeom>
          <a:noFill/>
          <a:ln/>
        </p:spPr>
        <p:txBody>
          <a:bodyPr wrap="square" lIns="0" tIns="0" rIns="0" bIns="0" rtlCol="0" anchor="ctr"/>
          <a:lstStyle/>
          <a:p>
            <a:pPr algn="l" indent="0" marL="0">
              <a:buNone/>
            </a:pPr>
            <a:r>
              <a:rPr lang="en-US" sz="850" dirty="0">
                <a:solidFill>
                  <a:srgbClr val="B89040"/>
                </a:solidFill>
                <a:latin typeface="Calibri" pitchFamily="34" charset="0"/>
                <a:ea typeface="Calibri" pitchFamily="34" charset="-122"/>
                <a:cs typeface="Calibri" pitchFamily="34" charset="-120"/>
              </a:rPr>
              <a:t>MAE 293.4 kg CO₂e</a:t>
            </a:r>
            <a:endParaRPr lang="en-US" sz="850" dirty="0"/>
          </a:p>
        </p:txBody>
      </p:sp>
      <p:sp>
        <p:nvSpPr>
          <p:cNvPr id="24" name="Text 21"/>
          <p:cNvSpPr/>
          <p:nvPr/>
        </p:nvSpPr>
        <p:spPr>
          <a:xfrm>
            <a:off x="5742432" y="4078224"/>
            <a:ext cx="2926080" cy="164592"/>
          </a:xfrm>
          <a:prstGeom prst="rect">
            <a:avLst/>
          </a:prstGeom>
          <a:noFill/>
          <a:ln/>
        </p:spPr>
        <p:txBody>
          <a:bodyPr wrap="square" lIns="0" tIns="0" rIns="0" bIns="0" rtlCol="0" anchor="ctr"/>
          <a:lstStyle/>
          <a:p>
            <a:pPr algn="l" indent="0" marL="0">
              <a:buNone/>
            </a:pPr>
            <a:r>
              <a:rPr lang="en-US" sz="800" dirty="0">
                <a:solidFill>
                  <a:srgbClr val="636363"/>
                </a:solidFill>
                <a:latin typeface="Calibri" pitchFamily="34" charset="0"/>
                <a:ea typeface="Calibri" pitchFamily="34" charset="-122"/>
                <a:cs typeface="Calibri" pitchFamily="34" charset="-120"/>
              </a:rPr>
              <a:t>Worst performer — marks N/A if &lt;12 months.</a:t>
            </a:r>
            <a:endParaRPr lang="en-US" sz="800" dirty="0"/>
          </a:p>
        </p:txBody>
      </p:sp>
      <p:sp>
        <p:nvSpPr>
          <p:cNvPr id="25" name="Text 22"/>
          <p:cNvSpPr/>
          <p:nvPr/>
        </p:nvSpPr>
        <p:spPr>
          <a:xfrm>
            <a:off x="5577840" y="4480560"/>
            <a:ext cx="3246120" cy="182880"/>
          </a:xfrm>
          <a:prstGeom prst="rect">
            <a:avLst/>
          </a:prstGeom>
          <a:noFill/>
          <a:ln/>
        </p:spPr>
        <p:txBody>
          <a:bodyPr wrap="square" lIns="0" tIns="0" rIns="0" bIns="0" rtlCol="0" anchor="ctr"/>
          <a:lstStyle/>
          <a:p>
            <a:pPr algn="l" indent="0" marL="0">
              <a:buNone/>
            </a:pPr>
            <a:r>
              <a:rPr lang="en-US" sz="700" spc="150" kern="0" dirty="0">
                <a:solidFill>
                  <a:srgbClr val="3A3A3A"/>
                </a:solidFill>
                <a:latin typeface="Courier New" pitchFamily="34" charset="0"/>
                <a:ea typeface="Courier New" pitchFamily="34" charset="-122"/>
                <a:cs typeface="Courier New" pitchFamily="34" charset="-120"/>
              </a:rPr>
              <a:t>DESIGN DECISIONS</a:t>
            </a:r>
            <a:endParaRPr lang="en-US" sz="700" dirty="0"/>
          </a:p>
        </p:txBody>
      </p:sp>
      <p:sp>
        <p:nvSpPr>
          <p:cNvPr id="26" name="Text 23"/>
          <p:cNvSpPr/>
          <p:nvPr/>
        </p:nvSpPr>
        <p:spPr>
          <a:xfrm>
            <a:off x="5577840" y="4663440"/>
            <a:ext cx="3246120" cy="420624"/>
          </a:xfrm>
          <a:prstGeom prst="rect">
            <a:avLst/>
          </a:prstGeom>
          <a:noFill/>
          <a:ln/>
        </p:spPr>
        <p:txBody>
          <a:bodyPr wrap="square" lIns="0" tIns="0" rIns="0" bIns="0" rtlCol="0" anchor="ctr"/>
          <a:lstStyle/>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Train/holdout split (3 months) — no data leakage</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MAE chosen over RMSE — interpretable for ops managers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Best baseline refit on full data for final prediction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37744"/>
            <a:ext cx="6400800" cy="182880"/>
          </a:xfrm>
          <a:prstGeom prst="rect">
            <a:avLst/>
          </a:prstGeom>
          <a:noFill/>
          <a:ln/>
        </p:spPr>
        <p:txBody>
          <a:bodyPr wrap="square" lIns="0" tIns="0" rIns="0" bIns="0" rtlCol="0" anchor="ctr"/>
          <a:lstStyle/>
          <a:p>
            <a:pPr algn="l" indent="0" marL="0">
              <a:buNone/>
            </a:pPr>
            <a:r>
              <a:rPr lang="en-US" sz="750" spc="200" kern="0" dirty="0">
                <a:solidFill>
                  <a:srgbClr val="5EADA0"/>
                </a:solidFill>
                <a:latin typeface="Courier New" pitchFamily="34" charset="0"/>
                <a:ea typeface="Courier New" pitchFamily="34" charset="-122"/>
                <a:cs typeface="Courier New" pitchFamily="34" charset="-120"/>
              </a:rPr>
              <a:t>04  /  PROTOTYPE DESIGN</a:t>
            </a:r>
            <a:endParaRPr lang="en-US" sz="750" dirty="0"/>
          </a:p>
        </p:txBody>
      </p:sp>
      <p:sp>
        <p:nvSpPr>
          <p:cNvPr id="3" name="Text 1"/>
          <p:cNvSpPr/>
          <p:nvPr/>
        </p:nvSpPr>
        <p:spPr>
          <a:xfrm>
            <a:off x="457200" y="438912"/>
            <a:ext cx="8229600" cy="475488"/>
          </a:xfrm>
          <a:prstGeom prst="rect">
            <a:avLst/>
          </a:prstGeom>
          <a:noFill/>
          <a:ln/>
        </p:spPr>
        <p:txBody>
          <a:bodyPr wrap="square" lIns="0" tIns="0" rIns="0" bIns="0" rtlCol="0" anchor="ctr"/>
          <a:lstStyle/>
          <a:p>
            <a:pPr algn="l" indent="0" marL="0">
              <a:buNone/>
            </a:pPr>
            <a:r>
              <a:rPr lang="en-US" sz="2400" b="1" dirty="0">
                <a:solidFill>
                  <a:srgbClr val="E8E8E8"/>
                </a:solidFill>
                <a:latin typeface="Calibri" pitchFamily="34" charset="0"/>
                <a:ea typeface="Calibri" pitchFamily="34" charset="-122"/>
                <a:cs typeface="Calibri" pitchFamily="34" charset="-120"/>
              </a:rPr>
              <a:t>14 Live Pages — Real Screenshots</a:t>
            </a:r>
            <a:endParaRPr lang="en-US" sz="2400" dirty="0"/>
          </a:p>
        </p:txBody>
      </p:sp>
      <p:sp>
        <p:nvSpPr>
          <p:cNvPr id="4" name="Shape 2"/>
          <p:cNvSpPr/>
          <p:nvPr/>
        </p:nvSpPr>
        <p:spPr>
          <a:xfrm>
            <a:off x="457200" y="969264"/>
            <a:ext cx="8229600" cy="0"/>
          </a:xfrm>
          <a:prstGeom prst="line">
            <a:avLst/>
          </a:prstGeom>
          <a:noFill/>
          <a:ln w="6350">
            <a:solidFill>
              <a:srgbClr val="2E2E2E"/>
            </a:solidFill>
            <a:prstDash val="solid"/>
          </a:ln>
        </p:spPr>
      </p:sp>
      <p:pic>
        <p:nvPicPr>
          <p:cNvPr id="5" name="Image 0" descr="preencoded.png">    </p:cNvPr>
          <p:cNvPicPr>
            <a:picLocks noChangeAspect="1"/>
          </p:cNvPicPr>
          <p:nvPr/>
        </p:nvPicPr>
        <p:blipFill>
          <a:blip r:embed="rId1"/>
          <a:stretch>
            <a:fillRect/>
          </a:stretch>
        </p:blipFill>
        <p:spPr>
          <a:xfrm>
            <a:off x="365760" y="1060704"/>
            <a:ext cx="4069080" cy="2103120"/>
          </a:xfrm>
          <a:prstGeom prst="rect">
            <a:avLst/>
          </a:prstGeom>
          <a:effectLst>
            <a:outerShdw sx="100000" sy="100000" kx="0" ky="0" algn="bl" rotWithShape="0" blurRad="101600" dist="25400" dir="2700000">
              <a:srgbClr val="000000">
                <a:alpha val="45000"/>
              </a:srgbClr>
            </a:outerShdw>
          </a:effectLst>
        </p:spPr>
      </p:pic>
      <p:sp>
        <p:nvSpPr>
          <p:cNvPr id="6" name="Text 3"/>
          <p:cNvSpPr/>
          <p:nvPr/>
        </p:nvSpPr>
        <p:spPr>
          <a:xfrm>
            <a:off x="365760" y="3200400"/>
            <a:ext cx="4069080" cy="182880"/>
          </a:xfrm>
          <a:prstGeom prst="rect">
            <a:avLst/>
          </a:prstGeom>
          <a:noFill/>
          <a:ln/>
        </p:spPr>
        <p:txBody>
          <a:bodyPr wrap="square" lIns="0" tIns="0" rIns="0" bIns="0" rtlCol="0" anchor="ctr"/>
          <a:lstStyle/>
          <a:p>
            <a:pPr algn="ctr" indent="0" marL="0">
              <a:buNone/>
            </a:pPr>
            <a:r>
              <a:rPr lang="en-US" sz="750" i="1" dirty="0">
                <a:solidFill>
                  <a:srgbClr val="3A3A3A"/>
                </a:solidFill>
                <a:latin typeface="Calibri" pitchFamily="34" charset="0"/>
                <a:ea typeface="Calibri" pitchFamily="34" charset="-122"/>
                <a:cs typeface="Calibri" pitchFamily="34" charset="-120"/>
              </a:rPr>
              <a:t>Landing page — cinematic hero, CSV upload entry</a:t>
            </a:r>
            <a:endParaRPr lang="en-US" sz="750" dirty="0"/>
          </a:p>
        </p:txBody>
      </p:sp>
      <p:pic>
        <p:nvPicPr>
          <p:cNvPr id="7" name="Image 1" descr="preencoded.png">    </p:cNvPr>
          <p:cNvPicPr>
            <a:picLocks noChangeAspect="1"/>
          </p:cNvPicPr>
          <p:nvPr/>
        </p:nvPicPr>
        <p:blipFill>
          <a:blip r:embed="rId2"/>
          <a:stretch>
            <a:fillRect/>
          </a:stretch>
        </p:blipFill>
        <p:spPr>
          <a:xfrm>
            <a:off x="4681728" y="1060704"/>
            <a:ext cx="4096512" cy="2103120"/>
          </a:xfrm>
          <a:prstGeom prst="rect">
            <a:avLst/>
          </a:prstGeom>
          <a:effectLst>
            <a:outerShdw sx="100000" sy="100000" kx="0" ky="0" algn="bl" rotWithShape="0" blurRad="101600" dist="25400" dir="2700000">
              <a:srgbClr val="000000">
                <a:alpha val="45000"/>
              </a:srgbClr>
            </a:outerShdw>
          </a:effectLst>
        </p:spPr>
      </p:pic>
      <p:sp>
        <p:nvSpPr>
          <p:cNvPr id="8" name="Text 4"/>
          <p:cNvSpPr/>
          <p:nvPr/>
        </p:nvSpPr>
        <p:spPr>
          <a:xfrm>
            <a:off x="4681728" y="3200400"/>
            <a:ext cx="4096512" cy="182880"/>
          </a:xfrm>
          <a:prstGeom prst="rect">
            <a:avLst/>
          </a:prstGeom>
          <a:noFill/>
          <a:ln/>
        </p:spPr>
        <p:txBody>
          <a:bodyPr wrap="square" lIns="0" tIns="0" rIns="0" bIns="0" rtlCol="0" anchor="ctr"/>
          <a:lstStyle/>
          <a:p>
            <a:pPr algn="ctr" indent="0" marL="0">
              <a:buNone/>
            </a:pPr>
            <a:r>
              <a:rPr lang="en-US" sz="750" i="1" dirty="0">
                <a:solidFill>
                  <a:srgbClr val="3A3A3A"/>
                </a:solidFill>
                <a:latin typeface="Calibri" pitchFamily="34" charset="0"/>
                <a:ea typeface="Calibri" pitchFamily="34" charset="-122"/>
                <a:cs typeface="Calibri" pitchFamily="34" charset="-120"/>
              </a:rPr>
              <a:t>OCEL 2.0 process graph — 800 cases, 10 activities</a:t>
            </a:r>
            <a:endParaRPr lang="en-US" sz="750" dirty="0"/>
          </a:p>
        </p:txBody>
      </p:sp>
      <p:pic>
        <p:nvPicPr>
          <p:cNvPr id="9" name="Image 2" descr="preencoded.png">    </p:cNvPr>
          <p:cNvPicPr>
            <a:picLocks noChangeAspect="1"/>
          </p:cNvPicPr>
          <p:nvPr/>
        </p:nvPicPr>
        <p:blipFill>
          <a:blip r:embed="rId3"/>
          <a:stretch>
            <a:fillRect/>
          </a:stretch>
        </p:blipFill>
        <p:spPr>
          <a:xfrm>
            <a:off x="365760" y="3493008"/>
            <a:ext cx="4069080" cy="1417320"/>
          </a:xfrm>
          <a:prstGeom prst="rect">
            <a:avLst/>
          </a:prstGeom>
          <a:effectLst>
            <a:outerShdw sx="100000" sy="100000" kx="0" ky="0" algn="bl" rotWithShape="0" blurRad="101600" dist="25400" dir="2700000">
              <a:srgbClr val="000000">
                <a:alpha val="45000"/>
              </a:srgbClr>
            </a:outerShdw>
          </a:effectLst>
        </p:spPr>
      </p:pic>
      <p:sp>
        <p:nvSpPr>
          <p:cNvPr id="10" name="Text 5"/>
          <p:cNvSpPr/>
          <p:nvPr/>
        </p:nvSpPr>
        <p:spPr>
          <a:xfrm>
            <a:off x="365760" y="4937760"/>
            <a:ext cx="4069080" cy="182880"/>
          </a:xfrm>
          <a:prstGeom prst="rect">
            <a:avLst/>
          </a:prstGeom>
          <a:noFill/>
          <a:ln/>
        </p:spPr>
        <p:txBody>
          <a:bodyPr wrap="square" lIns="0" tIns="0" rIns="0" bIns="0" rtlCol="0" anchor="ctr"/>
          <a:lstStyle/>
          <a:p>
            <a:pPr algn="ctr" indent="0" marL="0">
              <a:buNone/>
            </a:pPr>
            <a:r>
              <a:rPr lang="en-US" sz="750" i="1" dirty="0">
                <a:solidFill>
                  <a:srgbClr val="3A3A3A"/>
                </a:solidFill>
                <a:latin typeface="Calibri" pitchFamily="34" charset="0"/>
                <a:ea typeface="Calibri" pitchFamily="34" charset="-122"/>
                <a:cs typeface="Calibri" pitchFamily="34" charset="-120"/>
              </a:rPr>
              <a:t>Conformance — 368 violations, 428.4 kg excess CO₂</a:t>
            </a:r>
            <a:endParaRPr lang="en-US" sz="750" dirty="0"/>
          </a:p>
        </p:txBody>
      </p:sp>
      <p:pic>
        <p:nvPicPr>
          <p:cNvPr id="11" name="Image 3" descr="preencoded.png">    </p:cNvPr>
          <p:cNvPicPr>
            <a:picLocks noChangeAspect="1"/>
          </p:cNvPicPr>
          <p:nvPr/>
        </p:nvPicPr>
        <p:blipFill>
          <a:blip r:embed="rId4"/>
          <a:stretch>
            <a:fillRect/>
          </a:stretch>
        </p:blipFill>
        <p:spPr>
          <a:xfrm>
            <a:off x="4681728" y="3438144"/>
            <a:ext cx="1828800" cy="1481328"/>
          </a:xfrm>
          <a:prstGeom prst="rect">
            <a:avLst/>
          </a:prstGeom>
          <a:effectLst>
            <a:outerShdw sx="100000" sy="100000" kx="0" ky="0" algn="bl" rotWithShape="0" blurRad="101600" dist="25400" dir="2700000">
              <a:srgbClr val="000000">
                <a:alpha val="45000"/>
              </a:srgbClr>
            </a:outerShdw>
          </a:effectLst>
        </p:spPr>
      </p:pic>
      <p:sp>
        <p:nvSpPr>
          <p:cNvPr id="12" name="Text 6"/>
          <p:cNvSpPr/>
          <p:nvPr/>
        </p:nvSpPr>
        <p:spPr>
          <a:xfrm>
            <a:off x="4681728" y="4937760"/>
            <a:ext cx="4096512" cy="182880"/>
          </a:xfrm>
          <a:prstGeom prst="rect">
            <a:avLst/>
          </a:prstGeom>
          <a:noFill/>
          <a:ln/>
        </p:spPr>
        <p:txBody>
          <a:bodyPr wrap="square" lIns="0" tIns="0" rIns="0" bIns="0" rtlCol="0" anchor="ctr"/>
          <a:lstStyle/>
          <a:p>
            <a:pPr algn="ctr" indent="0" marL="0">
              <a:buNone/>
            </a:pPr>
            <a:r>
              <a:rPr lang="en-US" sz="750" i="1" dirty="0">
                <a:solidFill>
                  <a:srgbClr val="3A3A3A"/>
                </a:solidFill>
                <a:latin typeface="Calibri" pitchFamily="34" charset="0"/>
                <a:ea typeface="Calibri" pitchFamily="34" charset="-122"/>
                <a:cs typeface="Calibri" pitchFamily="34" charset="-120"/>
              </a:rPr>
              <a:t>Violation Audit Record — Air Freight CRITICAL, +2.23 kg CO₂</a:t>
            </a:r>
            <a:endParaRPr lang="en-US" sz="750" dirty="0"/>
          </a:p>
        </p:txBody>
      </p:sp>
      <p:sp>
        <p:nvSpPr>
          <p:cNvPr id="13" name="Shape 7"/>
          <p:cNvSpPr/>
          <p:nvPr/>
        </p:nvSpPr>
        <p:spPr>
          <a:xfrm>
            <a:off x="6675120" y="3438144"/>
            <a:ext cx="603504" cy="694944"/>
          </a:xfrm>
          <a:prstGeom prst="roundRect">
            <a:avLst>
              <a:gd name="adj" fmla="val 9091"/>
            </a:avLst>
          </a:prstGeom>
          <a:solidFill>
            <a:srgbClr val="222222"/>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4" name="Text 8"/>
          <p:cNvSpPr/>
          <p:nvPr/>
        </p:nvSpPr>
        <p:spPr>
          <a:xfrm>
            <a:off x="6675120" y="3511296"/>
            <a:ext cx="603504" cy="310896"/>
          </a:xfrm>
          <a:prstGeom prst="rect">
            <a:avLst/>
          </a:prstGeom>
          <a:noFill/>
          <a:ln/>
        </p:spPr>
        <p:txBody>
          <a:bodyPr wrap="square" lIns="0" tIns="0" rIns="0" bIns="0" rtlCol="0" anchor="ctr"/>
          <a:lstStyle/>
          <a:p>
            <a:pPr algn="ctr" indent="0" marL="0">
              <a:buNone/>
            </a:pPr>
            <a:r>
              <a:rPr lang="en-US" sz="1600" b="1" dirty="0">
                <a:solidFill>
                  <a:srgbClr val="5EADA0"/>
                </a:solidFill>
                <a:latin typeface="Calibri" pitchFamily="34" charset="0"/>
                <a:ea typeface="Calibri" pitchFamily="34" charset="-122"/>
                <a:cs typeface="Calibri" pitchFamily="34" charset="-120"/>
              </a:rPr>
              <a:t>14</a:t>
            </a:r>
            <a:endParaRPr lang="en-US" sz="1600" dirty="0"/>
          </a:p>
        </p:txBody>
      </p:sp>
      <p:sp>
        <p:nvSpPr>
          <p:cNvPr id="15" name="Text 9"/>
          <p:cNvSpPr/>
          <p:nvPr/>
        </p:nvSpPr>
        <p:spPr>
          <a:xfrm>
            <a:off x="6675120" y="3840480"/>
            <a:ext cx="603504" cy="256032"/>
          </a:xfrm>
          <a:prstGeom prst="rect">
            <a:avLst/>
          </a:prstGeom>
          <a:noFill/>
          <a:ln/>
        </p:spPr>
        <p:txBody>
          <a:bodyPr wrap="square" lIns="0" tIns="0" rIns="0" bIns="0" rtlCol="0" anchor="ctr"/>
          <a:lstStyle/>
          <a:p>
            <a:pPr algn="ctr" indent="0" marL="0">
              <a:buNone/>
            </a:pPr>
            <a:r>
              <a:rPr lang="en-US" sz="700" dirty="0">
                <a:solidFill>
                  <a:srgbClr val="636363"/>
                </a:solidFill>
                <a:latin typeface="Calibri" pitchFamily="34" charset="0"/>
                <a:ea typeface="Calibri" pitchFamily="34" charset="-122"/>
                <a:cs typeface="Calibri" pitchFamily="34" charset="-120"/>
              </a:rPr>
              <a:t>Live Pages</a:t>
            </a:r>
            <a:endParaRPr lang="en-US" sz="700" dirty="0"/>
          </a:p>
        </p:txBody>
      </p:sp>
      <p:sp>
        <p:nvSpPr>
          <p:cNvPr id="16" name="Shape 10"/>
          <p:cNvSpPr/>
          <p:nvPr/>
        </p:nvSpPr>
        <p:spPr>
          <a:xfrm>
            <a:off x="7370064" y="3438144"/>
            <a:ext cx="603504" cy="694944"/>
          </a:xfrm>
          <a:prstGeom prst="roundRect">
            <a:avLst>
              <a:gd name="adj" fmla="val 9091"/>
            </a:avLst>
          </a:prstGeom>
          <a:solidFill>
            <a:srgbClr val="222222"/>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7" name="Text 11"/>
          <p:cNvSpPr/>
          <p:nvPr/>
        </p:nvSpPr>
        <p:spPr>
          <a:xfrm>
            <a:off x="7370064" y="3511296"/>
            <a:ext cx="603504" cy="310896"/>
          </a:xfrm>
          <a:prstGeom prst="rect">
            <a:avLst/>
          </a:prstGeom>
          <a:noFill/>
          <a:ln/>
        </p:spPr>
        <p:txBody>
          <a:bodyPr wrap="square" lIns="0" tIns="0" rIns="0" bIns="0" rtlCol="0" anchor="ctr"/>
          <a:lstStyle/>
          <a:p>
            <a:pPr algn="ctr" indent="0" marL="0">
              <a:buNone/>
            </a:pPr>
            <a:r>
              <a:rPr lang="en-US" sz="1600" b="1" dirty="0">
                <a:solidFill>
                  <a:srgbClr val="5EADA0"/>
                </a:solidFill>
                <a:latin typeface="Calibri" pitchFamily="34" charset="0"/>
                <a:ea typeface="Calibri" pitchFamily="34" charset="-122"/>
                <a:cs typeface="Calibri" pitchFamily="34" charset="-120"/>
              </a:rPr>
              <a:t>8</a:t>
            </a:r>
            <a:endParaRPr lang="en-US" sz="1600" dirty="0"/>
          </a:p>
        </p:txBody>
      </p:sp>
      <p:sp>
        <p:nvSpPr>
          <p:cNvPr id="18" name="Text 12"/>
          <p:cNvSpPr/>
          <p:nvPr/>
        </p:nvSpPr>
        <p:spPr>
          <a:xfrm>
            <a:off x="7370064" y="3840480"/>
            <a:ext cx="603504" cy="256032"/>
          </a:xfrm>
          <a:prstGeom prst="rect">
            <a:avLst/>
          </a:prstGeom>
          <a:noFill/>
          <a:ln/>
        </p:spPr>
        <p:txBody>
          <a:bodyPr wrap="square" lIns="0" tIns="0" rIns="0" bIns="0" rtlCol="0" anchor="ctr"/>
          <a:lstStyle/>
          <a:p>
            <a:pPr algn="ctr" indent="0" marL="0">
              <a:buNone/>
            </a:pPr>
            <a:r>
              <a:rPr lang="en-US" sz="700" dirty="0">
                <a:solidFill>
                  <a:srgbClr val="636363"/>
                </a:solidFill>
                <a:latin typeface="Calibri" pitchFamily="34" charset="0"/>
                <a:ea typeface="Calibri" pitchFamily="34" charset="-122"/>
                <a:cs typeface="Calibri" pitchFamily="34" charset="-120"/>
              </a:rPr>
              <a:t>Engines</a:t>
            </a:r>
            <a:endParaRPr lang="en-US" sz="700" dirty="0"/>
          </a:p>
        </p:txBody>
      </p:sp>
      <p:sp>
        <p:nvSpPr>
          <p:cNvPr id="19" name="Shape 13"/>
          <p:cNvSpPr/>
          <p:nvPr/>
        </p:nvSpPr>
        <p:spPr>
          <a:xfrm>
            <a:off x="8065008" y="3438144"/>
            <a:ext cx="603504" cy="694944"/>
          </a:xfrm>
          <a:prstGeom prst="roundRect">
            <a:avLst>
              <a:gd name="adj" fmla="val 9091"/>
            </a:avLst>
          </a:prstGeom>
          <a:solidFill>
            <a:srgbClr val="222222"/>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0" name="Text 14"/>
          <p:cNvSpPr/>
          <p:nvPr/>
        </p:nvSpPr>
        <p:spPr>
          <a:xfrm>
            <a:off x="8065008" y="3511296"/>
            <a:ext cx="603504" cy="310896"/>
          </a:xfrm>
          <a:prstGeom prst="rect">
            <a:avLst/>
          </a:prstGeom>
          <a:noFill/>
          <a:ln/>
        </p:spPr>
        <p:txBody>
          <a:bodyPr wrap="square" lIns="0" tIns="0" rIns="0" bIns="0" rtlCol="0" anchor="ctr"/>
          <a:lstStyle/>
          <a:p>
            <a:pPr algn="ctr" indent="0" marL="0">
              <a:buNone/>
            </a:pPr>
            <a:r>
              <a:rPr lang="en-US" sz="1600" b="1" dirty="0">
                <a:solidFill>
                  <a:srgbClr val="5EADA0"/>
                </a:solidFill>
                <a:latin typeface="Calibri" pitchFamily="34" charset="0"/>
                <a:ea typeface="Calibri" pitchFamily="34" charset="-122"/>
                <a:cs typeface="Calibri" pitchFamily="34" charset="-120"/>
              </a:rPr>
              <a:t>3</a:t>
            </a:r>
            <a:endParaRPr lang="en-US" sz="1600" dirty="0"/>
          </a:p>
        </p:txBody>
      </p:sp>
      <p:sp>
        <p:nvSpPr>
          <p:cNvPr id="21" name="Text 15"/>
          <p:cNvSpPr/>
          <p:nvPr/>
        </p:nvSpPr>
        <p:spPr>
          <a:xfrm>
            <a:off x="8065008" y="3840480"/>
            <a:ext cx="603504" cy="256032"/>
          </a:xfrm>
          <a:prstGeom prst="rect">
            <a:avLst/>
          </a:prstGeom>
          <a:noFill/>
          <a:ln/>
        </p:spPr>
        <p:txBody>
          <a:bodyPr wrap="square" lIns="0" tIns="0" rIns="0" bIns="0" rtlCol="0" anchor="ctr"/>
          <a:lstStyle/>
          <a:p>
            <a:pPr algn="ctr" indent="0" marL="0">
              <a:buNone/>
            </a:pPr>
            <a:r>
              <a:rPr lang="en-US" sz="700" dirty="0">
                <a:solidFill>
                  <a:srgbClr val="636363"/>
                </a:solidFill>
                <a:latin typeface="Calibri" pitchFamily="34" charset="0"/>
                <a:ea typeface="Calibri" pitchFamily="34" charset="-122"/>
                <a:cs typeface="Calibri" pitchFamily="34" charset="-120"/>
              </a:rPr>
              <a:t>Themes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37744"/>
            <a:ext cx="6400800" cy="182880"/>
          </a:xfrm>
          <a:prstGeom prst="rect">
            <a:avLst/>
          </a:prstGeom>
          <a:noFill/>
          <a:ln/>
        </p:spPr>
        <p:txBody>
          <a:bodyPr wrap="square" lIns="0" tIns="0" rIns="0" bIns="0" rtlCol="0" anchor="ctr"/>
          <a:lstStyle/>
          <a:p>
            <a:pPr algn="l" indent="0" marL="0">
              <a:buNone/>
            </a:pPr>
            <a:r>
              <a:rPr lang="en-US" sz="750" spc="200" kern="0" dirty="0">
                <a:solidFill>
                  <a:srgbClr val="5EADA0"/>
                </a:solidFill>
                <a:latin typeface="Courier New" pitchFamily="34" charset="0"/>
                <a:ea typeface="Courier New" pitchFamily="34" charset="-122"/>
                <a:cs typeface="Courier New" pitchFamily="34" charset="-120"/>
              </a:rPr>
              <a:t>05  /  FEASIBILITY ANALYSIS</a:t>
            </a:r>
            <a:endParaRPr lang="en-US" sz="750" dirty="0"/>
          </a:p>
        </p:txBody>
      </p:sp>
      <p:sp>
        <p:nvSpPr>
          <p:cNvPr id="3" name="Text 1"/>
          <p:cNvSpPr/>
          <p:nvPr/>
        </p:nvSpPr>
        <p:spPr>
          <a:xfrm>
            <a:off x="457200" y="438912"/>
            <a:ext cx="8229600" cy="475488"/>
          </a:xfrm>
          <a:prstGeom prst="rect">
            <a:avLst/>
          </a:prstGeom>
          <a:noFill/>
          <a:ln/>
        </p:spPr>
        <p:txBody>
          <a:bodyPr wrap="square" lIns="0" tIns="0" rIns="0" bIns="0" rtlCol="0" anchor="ctr"/>
          <a:lstStyle/>
          <a:p>
            <a:pPr algn="l" indent="0" marL="0">
              <a:buNone/>
            </a:pPr>
            <a:r>
              <a:rPr lang="en-US" sz="2400" b="1" dirty="0">
                <a:solidFill>
                  <a:srgbClr val="E8E8E8"/>
                </a:solidFill>
                <a:latin typeface="Calibri" pitchFamily="34" charset="0"/>
                <a:ea typeface="Calibri" pitchFamily="34" charset="-122"/>
                <a:cs typeface="Calibri" pitchFamily="34" charset="-120"/>
              </a:rPr>
              <a:t>Evidence, Not Claims.</a:t>
            </a:r>
            <a:endParaRPr lang="en-US" sz="2400" dirty="0"/>
          </a:p>
        </p:txBody>
      </p:sp>
      <p:sp>
        <p:nvSpPr>
          <p:cNvPr id="4" name="Shape 2"/>
          <p:cNvSpPr/>
          <p:nvPr/>
        </p:nvSpPr>
        <p:spPr>
          <a:xfrm>
            <a:off x="457200" y="969264"/>
            <a:ext cx="8229600" cy="0"/>
          </a:xfrm>
          <a:prstGeom prst="line">
            <a:avLst/>
          </a:prstGeom>
          <a:noFill/>
          <a:ln w="6350">
            <a:solidFill>
              <a:srgbClr val="2E2E2E"/>
            </a:solidFill>
            <a:prstDash val="solid"/>
          </a:ln>
        </p:spPr>
      </p:sp>
      <p:sp>
        <p:nvSpPr>
          <p:cNvPr id="5" name="Shape 3"/>
          <p:cNvSpPr/>
          <p:nvPr/>
        </p:nvSpPr>
        <p:spPr>
          <a:xfrm>
            <a:off x="457200" y="1097280"/>
            <a:ext cx="8321040" cy="530352"/>
          </a:xfrm>
          <a:prstGeom prst="roundRect">
            <a:avLst>
              <a:gd name="adj" fmla="val 10345"/>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6" name="Text 4"/>
          <p:cNvSpPr/>
          <p:nvPr/>
        </p:nvSpPr>
        <p:spPr>
          <a:xfrm>
            <a:off x="640080" y="1170432"/>
            <a:ext cx="2377440" cy="201168"/>
          </a:xfrm>
          <a:prstGeom prst="rect">
            <a:avLst/>
          </a:prstGeom>
          <a:noFill/>
          <a:ln/>
        </p:spPr>
        <p:txBody>
          <a:bodyPr wrap="square" lIns="0" tIns="0" rIns="0" bIns="0" rtlCol="0" anchor="ctr"/>
          <a:lstStyle/>
          <a:p>
            <a:pPr algn="l" indent="0" marL="0">
              <a:buNone/>
            </a:pPr>
            <a:r>
              <a:rPr lang="en-US" sz="1000" b="1" dirty="0">
                <a:solidFill>
                  <a:srgbClr val="E8E8E8"/>
                </a:solidFill>
                <a:latin typeface="Calibri" pitchFamily="34" charset="0"/>
                <a:ea typeface="Calibri" pitchFamily="34" charset="-122"/>
                <a:cs typeface="Calibri" pitchFamily="34" charset="-120"/>
              </a:rPr>
              <a:t>Column auto-mapping</a:t>
            </a:r>
            <a:endParaRPr lang="en-US" sz="1000" dirty="0"/>
          </a:p>
        </p:txBody>
      </p:sp>
      <p:sp>
        <p:nvSpPr>
          <p:cNvPr id="7" name="Text 5"/>
          <p:cNvSpPr/>
          <p:nvPr/>
        </p:nvSpPr>
        <p:spPr>
          <a:xfrm>
            <a:off x="640080" y="1389888"/>
            <a:ext cx="2286000" cy="182880"/>
          </a:xfrm>
          <a:prstGeom prst="rect">
            <a:avLst/>
          </a:prstGeom>
          <a:noFill/>
          <a:ln/>
        </p:spPr>
        <p:txBody>
          <a:bodyPr wrap="square" lIns="0" tIns="0" rIns="0" bIns="0" rtlCol="0" anchor="ctr"/>
          <a:lstStyle/>
          <a:p>
            <a:pPr algn="l" indent="0" marL="0">
              <a:buNone/>
            </a:pPr>
            <a:r>
              <a:rPr lang="en-US" sz="800" dirty="0">
                <a:solidFill>
                  <a:srgbClr val="5EA87A"/>
                </a:solidFill>
                <a:latin typeface="Courier New" pitchFamily="34" charset="0"/>
                <a:ea typeface="Courier New" pitchFamily="34" charset="-122"/>
                <a:cs typeface="Courier New" pitchFamily="34" charset="-120"/>
              </a:rPr>
              <a:t>✓  Verified</a:t>
            </a:r>
            <a:endParaRPr lang="en-US" sz="800" dirty="0"/>
          </a:p>
        </p:txBody>
      </p:sp>
      <p:sp>
        <p:nvSpPr>
          <p:cNvPr id="8" name="Text 6"/>
          <p:cNvSpPr/>
          <p:nvPr/>
        </p:nvSpPr>
        <p:spPr>
          <a:xfrm>
            <a:off x="3200400" y="1188720"/>
            <a:ext cx="5394960" cy="347472"/>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800-case demo CSV with arbitrary headers — auto-mapped at confidence threshold. Manual override UI on failure. Tested on multiple schemas.</a:t>
            </a:r>
            <a:endParaRPr lang="en-US" sz="900" dirty="0"/>
          </a:p>
        </p:txBody>
      </p:sp>
      <p:sp>
        <p:nvSpPr>
          <p:cNvPr id="9" name="Shape 7"/>
          <p:cNvSpPr/>
          <p:nvPr/>
        </p:nvSpPr>
        <p:spPr>
          <a:xfrm>
            <a:off x="457200" y="1709928"/>
            <a:ext cx="8321040" cy="530352"/>
          </a:xfrm>
          <a:prstGeom prst="roundRect">
            <a:avLst>
              <a:gd name="adj" fmla="val 10345"/>
            </a:avLst>
          </a:prstGeom>
          <a:solidFill>
            <a:srgbClr val="131313"/>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0" name="Text 8"/>
          <p:cNvSpPr/>
          <p:nvPr/>
        </p:nvSpPr>
        <p:spPr>
          <a:xfrm>
            <a:off x="640080" y="1783080"/>
            <a:ext cx="2377440" cy="201168"/>
          </a:xfrm>
          <a:prstGeom prst="rect">
            <a:avLst/>
          </a:prstGeom>
          <a:noFill/>
          <a:ln/>
        </p:spPr>
        <p:txBody>
          <a:bodyPr wrap="square" lIns="0" tIns="0" rIns="0" bIns="0" rtlCol="0" anchor="ctr"/>
          <a:lstStyle/>
          <a:p>
            <a:pPr algn="l" indent="0" marL="0">
              <a:buNone/>
            </a:pPr>
            <a:r>
              <a:rPr lang="en-US" sz="1000" b="1" dirty="0">
                <a:solidFill>
                  <a:srgbClr val="E8E8E8"/>
                </a:solidFill>
                <a:latin typeface="Calibri" pitchFamily="34" charset="0"/>
                <a:ea typeface="Calibri" pitchFamily="34" charset="-122"/>
                <a:cs typeface="Calibri" pitchFamily="34" charset="-120"/>
              </a:rPr>
              <a:t>368 violations detected</a:t>
            </a:r>
            <a:endParaRPr lang="en-US" sz="1000" dirty="0"/>
          </a:p>
        </p:txBody>
      </p:sp>
      <p:sp>
        <p:nvSpPr>
          <p:cNvPr id="11" name="Text 9"/>
          <p:cNvSpPr/>
          <p:nvPr/>
        </p:nvSpPr>
        <p:spPr>
          <a:xfrm>
            <a:off x="640080" y="2002536"/>
            <a:ext cx="2286000" cy="182880"/>
          </a:xfrm>
          <a:prstGeom prst="rect">
            <a:avLst/>
          </a:prstGeom>
          <a:noFill/>
          <a:ln/>
        </p:spPr>
        <p:txBody>
          <a:bodyPr wrap="square" lIns="0" tIns="0" rIns="0" bIns="0" rtlCol="0" anchor="ctr"/>
          <a:lstStyle/>
          <a:p>
            <a:pPr algn="l" indent="0" marL="0">
              <a:buNone/>
            </a:pPr>
            <a:r>
              <a:rPr lang="en-US" sz="800" dirty="0">
                <a:solidFill>
                  <a:srgbClr val="5EA87A"/>
                </a:solidFill>
                <a:latin typeface="Courier New" pitchFamily="34" charset="0"/>
                <a:ea typeface="Courier New" pitchFamily="34" charset="-122"/>
                <a:cs typeface="Courier New" pitchFamily="34" charset="-120"/>
              </a:rPr>
              <a:t>✓  Verified</a:t>
            </a:r>
            <a:endParaRPr lang="en-US" sz="800" dirty="0"/>
          </a:p>
        </p:txBody>
      </p:sp>
      <p:sp>
        <p:nvSpPr>
          <p:cNvPr id="12" name="Text 10"/>
          <p:cNvSpPr/>
          <p:nvPr/>
        </p:nvSpPr>
        <p:spPr>
          <a:xfrm>
            <a:off x="3200400" y="1801368"/>
            <a:ext cx="5394960" cy="347472"/>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Regression-locked number. Any change to conformance.py triggers investigation. Confirmed in test suite — 0 test failures on this figure.</a:t>
            </a:r>
            <a:endParaRPr lang="en-US" sz="900" dirty="0"/>
          </a:p>
        </p:txBody>
      </p:sp>
      <p:sp>
        <p:nvSpPr>
          <p:cNvPr id="13" name="Shape 11"/>
          <p:cNvSpPr/>
          <p:nvPr/>
        </p:nvSpPr>
        <p:spPr>
          <a:xfrm>
            <a:off x="457200" y="2322576"/>
            <a:ext cx="8321040" cy="530352"/>
          </a:xfrm>
          <a:prstGeom prst="roundRect">
            <a:avLst>
              <a:gd name="adj" fmla="val 10345"/>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4" name="Text 12"/>
          <p:cNvSpPr/>
          <p:nvPr/>
        </p:nvSpPr>
        <p:spPr>
          <a:xfrm>
            <a:off x="640080" y="2395728"/>
            <a:ext cx="2377440" cy="201168"/>
          </a:xfrm>
          <a:prstGeom prst="rect">
            <a:avLst/>
          </a:prstGeom>
          <a:noFill/>
          <a:ln/>
        </p:spPr>
        <p:txBody>
          <a:bodyPr wrap="square" lIns="0" tIns="0" rIns="0" bIns="0" rtlCol="0" anchor="ctr"/>
          <a:lstStyle/>
          <a:p>
            <a:pPr algn="l" indent="0" marL="0">
              <a:buNone/>
            </a:pPr>
            <a:r>
              <a:rPr lang="en-US" sz="1000" b="1" dirty="0">
                <a:solidFill>
                  <a:srgbClr val="E8E8E8"/>
                </a:solidFill>
                <a:latin typeface="Calibri" pitchFamily="34" charset="0"/>
                <a:ea typeface="Calibri" pitchFamily="34" charset="-122"/>
                <a:cs typeface="Calibri" pitchFamily="34" charset="-120"/>
              </a:rPr>
              <a:t>LinearTrend best baseline</a:t>
            </a:r>
            <a:endParaRPr lang="en-US" sz="1000" dirty="0"/>
          </a:p>
        </p:txBody>
      </p:sp>
      <p:sp>
        <p:nvSpPr>
          <p:cNvPr id="15" name="Text 13"/>
          <p:cNvSpPr/>
          <p:nvPr/>
        </p:nvSpPr>
        <p:spPr>
          <a:xfrm>
            <a:off x="640080" y="2615184"/>
            <a:ext cx="2286000" cy="182880"/>
          </a:xfrm>
          <a:prstGeom prst="rect">
            <a:avLst/>
          </a:prstGeom>
          <a:noFill/>
          <a:ln/>
        </p:spPr>
        <p:txBody>
          <a:bodyPr wrap="square" lIns="0" tIns="0" rIns="0" bIns="0" rtlCol="0" anchor="ctr"/>
          <a:lstStyle/>
          <a:p>
            <a:pPr algn="l" indent="0" marL="0">
              <a:buNone/>
            </a:pPr>
            <a:r>
              <a:rPr lang="en-US" sz="800" dirty="0">
                <a:solidFill>
                  <a:srgbClr val="5EA87A"/>
                </a:solidFill>
                <a:latin typeface="Courier New" pitchFamily="34" charset="0"/>
                <a:ea typeface="Courier New" pitchFamily="34" charset="-122"/>
                <a:cs typeface="Courier New" pitchFamily="34" charset="-120"/>
              </a:rPr>
              <a:t>✓  Verified</a:t>
            </a:r>
            <a:endParaRPr lang="en-US" sz="800" dirty="0"/>
          </a:p>
        </p:txBody>
      </p:sp>
      <p:sp>
        <p:nvSpPr>
          <p:cNvPr id="16" name="Text 14"/>
          <p:cNvSpPr/>
          <p:nvPr/>
        </p:nvSpPr>
        <p:spPr>
          <a:xfrm>
            <a:off x="3200400" y="2414016"/>
            <a:ext cx="5394960" cy="347472"/>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Hand-verified: Naive 133.9, MA3 127.8, LinearTrend 126.2 MAE on real 3-month holdout. SeasonalNaive 293.4 — correctly marked worst.</a:t>
            </a:r>
            <a:endParaRPr lang="en-US" sz="900" dirty="0"/>
          </a:p>
        </p:txBody>
      </p:sp>
      <p:sp>
        <p:nvSpPr>
          <p:cNvPr id="17" name="Shape 15"/>
          <p:cNvSpPr/>
          <p:nvPr/>
        </p:nvSpPr>
        <p:spPr>
          <a:xfrm>
            <a:off x="457200" y="2935224"/>
            <a:ext cx="8321040" cy="530352"/>
          </a:xfrm>
          <a:prstGeom prst="roundRect">
            <a:avLst>
              <a:gd name="adj" fmla="val 10345"/>
            </a:avLst>
          </a:prstGeom>
          <a:solidFill>
            <a:srgbClr val="131313"/>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8" name="Text 16"/>
          <p:cNvSpPr/>
          <p:nvPr/>
        </p:nvSpPr>
        <p:spPr>
          <a:xfrm>
            <a:off x="640080" y="3008376"/>
            <a:ext cx="2377440" cy="201168"/>
          </a:xfrm>
          <a:prstGeom prst="rect">
            <a:avLst/>
          </a:prstGeom>
          <a:noFill/>
          <a:ln/>
        </p:spPr>
        <p:txBody>
          <a:bodyPr wrap="square" lIns="0" tIns="0" rIns="0" bIns="0" rtlCol="0" anchor="ctr"/>
          <a:lstStyle/>
          <a:p>
            <a:pPr algn="l" indent="0" marL="0">
              <a:buNone/>
            </a:pPr>
            <a:r>
              <a:rPr lang="en-US" sz="1000" b="1" dirty="0">
                <a:solidFill>
                  <a:srgbClr val="E8E8E8"/>
                </a:solidFill>
                <a:latin typeface="Calibri" pitchFamily="34" charset="0"/>
                <a:ea typeface="Calibri" pitchFamily="34" charset="-122"/>
                <a:cs typeface="Calibri" pitchFamily="34" charset="-120"/>
              </a:rPr>
              <a:t>SHA-256 report integrity</a:t>
            </a:r>
            <a:endParaRPr lang="en-US" sz="1000" dirty="0"/>
          </a:p>
        </p:txBody>
      </p:sp>
      <p:sp>
        <p:nvSpPr>
          <p:cNvPr id="19" name="Text 17"/>
          <p:cNvSpPr/>
          <p:nvPr/>
        </p:nvSpPr>
        <p:spPr>
          <a:xfrm>
            <a:off x="640080" y="3227832"/>
            <a:ext cx="2286000" cy="182880"/>
          </a:xfrm>
          <a:prstGeom prst="rect">
            <a:avLst/>
          </a:prstGeom>
          <a:noFill/>
          <a:ln/>
        </p:spPr>
        <p:txBody>
          <a:bodyPr wrap="square" lIns="0" tIns="0" rIns="0" bIns="0" rtlCol="0" anchor="ctr"/>
          <a:lstStyle/>
          <a:p>
            <a:pPr algn="l" indent="0" marL="0">
              <a:buNone/>
            </a:pPr>
            <a:r>
              <a:rPr lang="en-US" sz="800" dirty="0">
                <a:solidFill>
                  <a:srgbClr val="5EA87A"/>
                </a:solidFill>
                <a:latin typeface="Courier New" pitchFamily="34" charset="0"/>
                <a:ea typeface="Courier New" pitchFamily="34" charset="-122"/>
                <a:cs typeface="Courier New" pitchFamily="34" charset="-120"/>
              </a:rPr>
              <a:t>✓  Verified</a:t>
            </a:r>
            <a:endParaRPr lang="en-US" sz="800" dirty="0"/>
          </a:p>
        </p:txBody>
      </p:sp>
      <p:sp>
        <p:nvSpPr>
          <p:cNvPr id="20" name="Text 18"/>
          <p:cNvSpPr/>
          <p:nvPr/>
        </p:nvSpPr>
        <p:spPr>
          <a:xfrm>
            <a:off x="3200400" y="3026664"/>
            <a:ext cx="5394960" cy="347472"/>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brsr_report.py hashes the full JSON payload before generating PDF. Any figure change changes the hash — tamper-evident audit trail.</a:t>
            </a:r>
            <a:endParaRPr lang="en-US" sz="900" dirty="0"/>
          </a:p>
        </p:txBody>
      </p:sp>
      <p:sp>
        <p:nvSpPr>
          <p:cNvPr id="21" name="Shape 19"/>
          <p:cNvSpPr/>
          <p:nvPr/>
        </p:nvSpPr>
        <p:spPr>
          <a:xfrm>
            <a:off x="457200" y="3547872"/>
            <a:ext cx="8321040" cy="530352"/>
          </a:xfrm>
          <a:prstGeom prst="roundRect">
            <a:avLst>
              <a:gd name="adj" fmla="val 10345"/>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2" name="Text 20"/>
          <p:cNvSpPr/>
          <p:nvPr/>
        </p:nvSpPr>
        <p:spPr>
          <a:xfrm>
            <a:off x="640080" y="3621024"/>
            <a:ext cx="2377440" cy="201168"/>
          </a:xfrm>
          <a:prstGeom prst="rect">
            <a:avLst/>
          </a:prstGeom>
          <a:noFill/>
          <a:ln/>
        </p:spPr>
        <p:txBody>
          <a:bodyPr wrap="square" lIns="0" tIns="0" rIns="0" bIns="0" rtlCol="0" anchor="ctr"/>
          <a:lstStyle/>
          <a:p>
            <a:pPr algn="l" indent="0" marL="0">
              <a:buNone/>
            </a:pPr>
            <a:r>
              <a:rPr lang="en-US" sz="1000" b="1" dirty="0">
                <a:solidFill>
                  <a:srgbClr val="E8E8E8"/>
                </a:solidFill>
                <a:latin typeface="Calibri" pitchFamily="34" charset="0"/>
                <a:ea typeface="Calibri" pitchFamily="34" charset="-122"/>
                <a:cs typeface="Calibri" pitchFamily="34" charset="-120"/>
              </a:rPr>
              <a:t>SQL-backed multi-tenancy</a:t>
            </a:r>
            <a:endParaRPr lang="en-US" sz="1000" dirty="0"/>
          </a:p>
        </p:txBody>
      </p:sp>
      <p:sp>
        <p:nvSpPr>
          <p:cNvPr id="23" name="Text 21"/>
          <p:cNvSpPr/>
          <p:nvPr/>
        </p:nvSpPr>
        <p:spPr>
          <a:xfrm>
            <a:off x="640080" y="3840480"/>
            <a:ext cx="2286000" cy="182880"/>
          </a:xfrm>
          <a:prstGeom prst="rect">
            <a:avLst/>
          </a:prstGeom>
          <a:noFill/>
          <a:ln/>
        </p:spPr>
        <p:txBody>
          <a:bodyPr wrap="square" lIns="0" tIns="0" rIns="0" bIns="0" rtlCol="0" anchor="ctr"/>
          <a:lstStyle/>
          <a:p>
            <a:pPr algn="l" indent="0" marL="0">
              <a:buNone/>
            </a:pPr>
            <a:r>
              <a:rPr lang="en-US" sz="800" dirty="0">
                <a:solidFill>
                  <a:srgbClr val="5EA87A"/>
                </a:solidFill>
                <a:latin typeface="Courier New" pitchFamily="34" charset="0"/>
                <a:ea typeface="Courier New" pitchFamily="34" charset="-122"/>
                <a:cs typeface="Courier New" pitchFamily="34" charset="-120"/>
              </a:rPr>
              <a:t>✓  Verified</a:t>
            </a:r>
            <a:endParaRPr lang="en-US" sz="800" dirty="0"/>
          </a:p>
        </p:txBody>
      </p:sp>
      <p:sp>
        <p:nvSpPr>
          <p:cNvPr id="24" name="Text 22"/>
          <p:cNvSpPr/>
          <p:nvPr/>
        </p:nvSpPr>
        <p:spPr>
          <a:xfrm>
            <a:off x="3200400" y="3639312"/>
            <a:ext cx="5394960" cy="347472"/>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6 DB tables. Org → Project → Workspace hierarchy with real cascade deletes. Settings survive server restarts. Schema migrations on startup.</a:t>
            </a:r>
            <a:endParaRPr lang="en-US" sz="900" dirty="0"/>
          </a:p>
        </p:txBody>
      </p:sp>
      <p:sp>
        <p:nvSpPr>
          <p:cNvPr id="25" name="Shape 23"/>
          <p:cNvSpPr/>
          <p:nvPr/>
        </p:nvSpPr>
        <p:spPr>
          <a:xfrm>
            <a:off x="457200" y="4160520"/>
            <a:ext cx="8321040" cy="530352"/>
          </a:xfrm>
          <a:prstGeom prst="roundRect">
            <a:avLst>
              <a:gd name="adj" fmla="val 10345"/>
            </a:avLst>
          </a:prstGeom>
          <a:solidFill>
            <a:srgbClr val="131313"/>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6" name="Text 24"/>
          <p:cNvSpPr/>
          <p:nvPr/>
        </p:nvSpPr>
        <p:spPr>
          <a:xfrm>
            <a:off x="640080" y="4233672"/>
            <a:ext cx="2377440" cy="201168"/>
          </a:xfrm>
          <a:prstGeom prst="rect">
            <a:avLst/>
          </a:prstGeom>
          <a:noFill/>
          <a:ln/>
        </p:spPr>
        <p:txBody>
          <a:bodyPr wrap="square" lIns="0" tIns="0" rIns="0" bIns="0" rtlCol="0" anchor="ctr"/>
          <a:lstStyle/>
          <a:p>
            <a:pPr algn="l" indent="0" marL="0">
              <a:buNone/>
            </a:pPr>
            <a:r>
              <a:rPr lang="en-US" sz="1000" b="1" dirty="0">
                <a:solidFill>
                  <a:srgbClr val="E8E8E8"/>
                </a:solidFill>
                <a:latin typeface="Calibri" pitchFamily="34" charset="0"/>
                <a:ea typeface="Calibri" pitchFamily="34" charset="-122"/>
                <a:cs typeface="Calibri" pitchFamily="34" charset="-120"/>
              </a:rPr>
              <a:t>Real Local Ollama LLM</a:t>
            </a:r>
            <a:endParaRPr lang="en-US" sz="1000" dirty="0"/>
          </a:p>
        </p:txBody>
      </p:sp>
      <p:sp>
        <p:nvSpPr>
          <p:cNvPr id="27" name="Text 25"/>
          <p:cNvSpPr/>
          <p:nvPr/>
        </p:nvSpPr>
        <p:spPr>
          <a:xfrm>
            <a:off x="640080" y="4453128"/>
            <a:ext cx="2286000" cy="182880"/>
          </a:xfrm>
          <a:prstGeom prst="rect">
            <a:avLst/>
          </a:prstGeom>
          <a:noFill/>
          <a:ln/>
        </p:spPr>
        <p:txBody>
          <a:bodyPr wrap="square" lIns="0" tIns="0" rIns="0" bIns="0" rtlCol="0" anchor="ctr"/>
          <a:lstStyle/>
          <a:p>
            <a:pPr algn="l" indent="0" marL="0">
              <a:buNone/>
            </a:pPr>
            <a:r>
              <a:rPr lang="en-US" sz="800" dirty="0">
                <a:solidFill>
                  <a:srgbClr val="5EA87A"/>
                </a:solidFill>
                <a:latin typeface="Courier New" pitchFamily="34" charset="0"/>
                <a:ea typeface="Courier New" pitchFamily="34" charset="-122"/>
                <a:cs typeface="Courier New" pitchFamily="34" charset="-120"/>
              </a:rPr>
              <a:t>✓  Verified</a:t>
            </a:r>
            <a:endParaRPr lang="en-US" sz="800" dirty="0"/>
          </a:p>
        </p:txBody>
      </p:sp>
      <p:sp>
        <p:nvSpPr>
          <p:cNvPr id="28" name="Text 26"/>
          <p:cNvSpPr/>
          <p:nvPr/>
        </p:nvSpPr>
        <p:spPr>
          <a:xfrm>
            <a:off x="3200400" y="4251960"/>
            <a:ext cx="5394960" cy="347472"/>
          </a:xfrm>
          <a:prstGeom prst="rect">
            <a:avLst/>
          </a:prstGeom>
          <a:noFill/>
          <a:ln/>
        </p:spPr>
        <p:txBody>
          <a:bodyPr wrap="square" lIns="0" tIns="0" rIns="0" bIns="0" rtlCol="0" anchor="ctr"/>
          <a:lstStyle/>
          <a:p>
            <a:pPr algn="l" indent="0" marL="0">
              <a:buNone/>
            </a:pPr>
            <a:r>
              <a:rPr lang="en-US" sz="900" dirty="0">
                <a:solidFill>
                  <a:srgbClr val="636363"/>
                </a:solidFill>
                <a:latin typeface="Calibri" pitchFamily="34" charset="0"/>
                <a:ea typeface="Calibri" pitchFamily="34" charset="-122"/>
                <a:cs typeface="Calibri" pitchFamily="34" charset="-120"/>
              </a:rPr>
              <a:t>Verified via browser network interception — requests hit localhost:11434 (Ollama). Zero cloud calls. Model-switchable at runtime.</a:t>
            </a:r>
            <a:endParaRPr lang="en-US" sz="900" dirty="0"/>
          </a:p>
        </p:txBody>
      </p:sp>
      <p:sp>
        <p:nvSpPr>
          <p:cNvPr id="29" name="Shape 27"/>
          <p:cNvSpPr/>
          <p:nvPr/>
        </p:nvSpPr>
        <p:spPr>
          <a:xfrm>
            <a:off x="457200" y="4791456"/>
            <a:ext cx="8321040" cy="274320"/>
          </a:xfrm>
          <a:prstGeom prst="roundRect">
            <a:avLst>
              <a:gd name="adj" fmla="val 20000"/>
            </a:avLst>
          </a:prstGeom>
          <a:solidFill>
            <a:srgbClr val="111A11"/>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30" name="Text 28"/>
          <p:cNvSpPr/>
          <p:nvPr/>
        </p:nvSpPr>
        <p:spPr>
          <a:xfrm>
            <a:off x="640080" y="4828032"/>
            <a:ext cx="7955280" cy="201168"/>
          </a:xfrm>
          <a:prstGeom prst="rect">
            <a:avLst/>
          </a:prstGeom>
          <a:noFill/>
          <a:ln/>
        </p:spPr>
        <p:txBody>
          <a:bodyPr wrap="square" lIns="0" tIns="0" rIns="0" bIns="0" rtlCol="0" anchor="ctr"/>
          <a:lstStyle/>
          <a:p>
            <a:pPr algn="ctr" indent="0" marL="0">
              <a:buNone/>
            </a:pPr>
            <a:r>
              <a:rPr lang="en-US" sz="850" dirty="0">
                <a:solidFill>
                  <a:srgbClr val="5EA87A"/>
                </a:solidFill>
                <a:latin typeface="Courier New" pitchFamily="34" charset="0"/>
                <a:ea typeface="Courier New" pitchFamily="34" charset="-122"/>
                <a:cs typeface="Courier New" pitchFamily="34" charset="-120"/>
              </a:rPr>
              <a:t>40 / 40 backend pytest cases passing  ·  Math hand-verified on all key numbers  ·  Zero tolerance for placeholder data</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37744"/>
            <a:ext cx="6400800" cy="182880"/>
          </a:xfrm>
          <a:prstGeom prst="rect">
            <a:avLst/>
          </a:prstGeom>
          <a:noFill/>
          <a:ln/>
        </p:spPr>
        <p:txBody>
          <a:bodyPr wrap="square" lIns="0" tIns="0" rIns="0" bIns="0" rtlCol="0" anchor="ctr"/>
          <a:lstStyle/>
          <a:p>
            <a:pPr algn="l" indent="0" marL="0">
              <a:buNone/>
            </a:pPr>
            <a:r>
              <a:rPr lang="en-US" sz="750" spc="200" kern="0" dirty="0">
                <a:solidFill>
                  <a:srgbClr val="5EADA0"/>
                </a:solidFill>
                <a:latin typeface="Courier New" pitchFamily="34" charset="0"/>
                <a:ea typeface="Courier New" pitchFamily="34" charset="-122"/>
                <a:cs typeface="Courier New" pitchFamily="34" charset="-120"/>
              </a:rPr>
              <a:t>06  /  EXPECTED IMPACT</a:t>
            </a:r>
            <a:endParaRPr lang="en-US" sz="750" dirty="0"/>
          </a:p>
        </p:txBody>
      </p:sp>
      <p:sp>
        <p:nvSpPr>
          <p:cNvPr id="3" name="Text 1"/>
          <p:cNvSpPr/>
          <p:nvPr/>
        </p:nvSpPr>
        <p:spPr>
          <a:xfrm>
            <a:off x="457200" y="438912"/>
            <a:ext cx="8229600" cy="475488"/>
          </a:xfrm>
          <a:prstGeom prst="rect">
            <a:avLst/>
          </a:prstGeom>
          <a:noFill/>
          <a:ln/>
        </p:spPr>
        <p:txBody>
          <a:bodyPr wrap="square" lIns="0" tIns="0" rIns="0" bIns="0" rtlCol="0" anchor="ctr"/>
          <a:lstStyle/>
          <a:p>
            <a:pPr algn="l" indent="0" marL="0">
              <a:buNone/>
            </a:pPr>
            <a:r>
              <a:rPr lang="en-US" sz="2400" b="1" dirty="0">
                <a:solidFill>
                  <a:srgbClr val="E8E8E8"/>
                </a:solidFill>
                <a:latin typeface="Calibri" pitchFamily="34" charset="0"/>
                <a:ea typeface="Calibri" pitchFamily="34" charset="-122"/>
                <a:cs typeface="Calibri" pitchFamily="34" charset="-120"/>
              </a:rPr>
              <a:t>From Event Log to ESG Audit — Automatically.</a:t>
            </a:r>
            <a:endParaRPr lang="en-US" sz="2400" dirty="0"/>
          </a:p>
        </p:txBody>
      </p:sp>
      <p:sp>
        <p:nvSpPr>
          <p:cNvPr id="4" name="Shape 2"/>
          <p:cNvSpPr/>
          <p:nvPr/>
        </p:nvSpPr>
        <p:spPr>
          <a:xfrm>
            <a:off x="457200" y="969264"/>
            <a:ext cx="8229600" cy="0"/>
          </a:xfrm>
          <a:prstGeom prst="line">
            <a:avLst/>
          </a:prstGeom>
          <a:noFill/>
          <a:ln w="6350">
            <a:solidFill>
              <a:srgbClr val="2E2E2E"/>
            </a:solidFill>
            <a:prstDash val="solid"/>
          </a:ln>
        </p:spPr>
      </p:sp>
      <p:sp>
        <p:nvSpPr>
          <p:cNvPr id="5" name="Shape 3"/>
          <p:cNvSpPr/>
          <p:nvPr/>
        </p:nvSpPr>
        <p:spPr>
          <a:xfrm>
            <a:off x="457200" y="1078992"/>
            <a:ext cx="1920240" cy="804672"/>
          </a:xfrm>
          <a:prstGeom prst="roundRect">
            <a:avLst>
              <a:gd name="adj" fmla="val 6818"/>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6" name="Text 4"/>
          <p:cNvSpPr/>
          <p:nvPr/>
        </p:nvSpPr>
        <p:spPr>
          <a:xfrm>
            <a:off x="566928" y="1133856"/>
            <a:ext cx="1737360" cy="402336"/>
          </a:xfrm>
          <a:prstGeom prst="rect">
            <a:avLst/>
          </a:prstGeom>
          <a:noFill/>
          <a:ln/>
        </p:spPr>
        <p:txBody>
          <a:bodyPr wrap="square" lIns="0" tIns="0" rIns="0" bIns="0" rtlCol="0" anchor="ctr"/>
          <a:lstStyle/>
          <a:p>
            <a:pPr algn="l" indent="0" marL="0">
              <a:buNone/>
            </a:pPr>
            <a:r>
              <a:rPr lang="en-US" sz="1900" b="1" dirty="0">
                <a:solidFill>
                  <a:srgbClr val="B89040"/>
                </a:solidFill>
                <a:latin typeface="Calibri" pitchFamily="34" charset="0"/>
                <a:ea typeface="Calibri" pitchFamily="34" charset="-122"/>
                <a:cs typeface="Calibri" pitchFamily="34" charset="-120"/>
              </a:rPr>
              <a:t>57.9%</a:t>
            </a:r>
            <a:endParaRPr lang="en-US" sz="1900" dirty="0"/>
          </a:p>
        </p:txBody>
      </p:sp>
      <p:sp>
        <p:nvSpPr>
          <p:cNvPr id="7" name="Text 5"/>
          <p:cNvSpPr/>
          <p:nvPr/>
        </p:nvSpPr>
        <p:spPr>
          <a:xfrm>
            <a:off x="566928" y="1536192"/>
            <a:ext cx="1737360" cy="274320"/>
          </a:xfrm>
          <a:prstGeom prst="rect">
            <a:avLst/>
          </a:prstGeom>
          <a:noFill/>
          <a:ln/>
        </p:spPr>
        <p:txBody>
          <a:bodyPr wrap="square" lIns="0" tIns="0" rIns="0" bIns="0" rtlCol="0" anchor="ctr"/>
          <a:lstStyle/>
          <a:p>
            <a:pPr algn="l" indent="0" marL="0">
              <a:buNone/>
            </a:pPr>
            <a:r>
              <a:rPr lang="en-US" sz="800" dirty="0">
                <a:solidFill>
                  <a:srgbClr val="636363"/>
                </a:solidFill>
                <a:latin typeface="Calibri" pitchFamily="34" charset="0"/>
                <a:ea typeface="Calibri" pitchFamily="34" charset="-122"/>
                <a:cs typeface="Calibri" pitchFamily="34" charset="-120"/>
              </a:rPr>
              <a:t>Process Compliance Score (800 cases)</a:t>
            </a:r>
            <a:endParaRPr lang="en-US" sz="800" dirty="0"/>
          </a:p>
        </p:txBody>
      </p:sp>
      <p:sp>
        <p:nvSpPr>
          <p:cNvPr id="8" name="Shape 6"/>
          <p:cNvSpPr/>
          <p:nvPr/>
        </p:nvSpPr>
        <p:spPr>
          <a:xfrm>
            <a:off x="2560320" y="1078992"/>
            <a:ext cx="1920240" cy="804672"/>
          </a:xfrm>
          <a:prstGeom prst="roundRect">
            <a:avLst>
              <a:gd name="adj" fmla="val 6818"/>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9" name="Text 7"/>
          <p:cNvSpPr/>
          <p:nvPr/>
        </p:nvSpPr>
        <p:spPr>
          <a:xfrm>
            <a:off x="2670048" y="1133856"/>
            <a:ext cx="1737360" cy="402336"/>
          </a:xfrm>
          <a:prstGeom prst="rect">
            <a:avLst/>
          </a:prstGeom>
          <a:noFill/>
          <a:ln/>
        </p:spPr>
        <p:txBody>
          <a:bodyPr wrap="square" lIns="0" tIns="0" rIns="0" bIns="0" rtlCol="0" anchor="ctr"/>
          <a:lstStyle/>
          <a:p>
            <a:pPr algn="l" indent="0" marL="0">
              <a:buNone/>
            </a:pPr>
            <a:r>
              <a:rPr lang="en-US" sz="1900" b="1" dirty="0">
                <a:solidFill>
                  <a:srgbClr val="5EADA0"/>
                </a:solidFill>
                <a:latin typeface="Calibri" pitchFamily="34" charset="0"/>
                <a:ea typeface="Calibri" pitchFamily="34" charset="-122"/>
                <a:cs typeface="Calibri" pitchFamily="34" charset="-120"/>
              </a:rPr>
              <a:t>88.4%</a:t>
            </a:r>
            <a:endParaRPr lang="en-US" sz="1900" dirty="0"/>
          </a:p>
        </p:txBody>
      </p:sp>
      <p:sp>
        <p:nvSpPr>
          <p:cNvPr id="10" name="Text 8"/>
          <p:cNvSpPr/>
          <p:nvPr/>
        </p:nvSpPr>
        <p:spPr>
          <a:xfrm>
            <a:off x="2670048" y="1536192"/>
            <a:ext cx="1737360" cy="274320"/>
          </a:xfrm>
          <a:prstGeom prst="rect">
            <a:avLst/>
          </a:prstGeom>
          <a:noFill/>
          <a:ln/>
        </p:spPr>
        <p:txBody>
          <a:bodyPr wrap="square" lIns="0" tIns="0" rIns="0" bIns="0" rtlCol="0" anchor="ctr"/>
          <a:lstStyle/>
          <a:p>
            <a:pPr algn="l" indent="0" marL="0">
              <a:buNone/>
            </a:pPr>
            <a:r>
              <a:rPr lang="en-US" sz="800" dirty="0">
                <a:solidFill>
                  <a:srgbClr val="636363"/>
                </a:solidFill>
                <a:latin typeface="Calibri" pitchFamily="34" charset="0"/>
                <a:ea typeface="Calibri" pitchFamily="34" charset="-122"/>
                <a:cs typeface="Calibri" pitchFamily="34" charset="-120"/>
              </a:rPr>
              <a:t>Carbon Fitness Score (avg efficiency)</a:t>
            </a:r>
            <a:endParaRPr lang="en-US" sz="800" dirty="0"/>
          </a:p>
        </p:txBody>
      </p:sp>
      <p:sp>
        <p:nvSpPr>
          <p:cNvPr id="11" name="Shape 9"/>
          <p:cNvSpPr/>
          <p:nvPr/>
        </p:nvSpPr>
        <p:spPr>
          <a:xfrm>
            <a:off x="4663440" y="1078992"/>
            <a:ext cx="1920240" cy="804672"/>
          </a:xfrm>
          <a:prstGeom prst="roundRect">
            <a:avLst>
              <a:gd name="adj" fmla="val 6818"/>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2" name="Text 10"/>
          <p:cNvSpPr/>
          <p:nvPr/>
        </p:nvSpPr>
        <p:spPr>
          <a:xfrm>
            <a:off x="4773168" y="1133856"/>
            <a:ext cx="1737360" cy="402336"/>
          </a:xfrm>
          <a:prstGeom prst="rect">
            <a:avLst/>
          </a:prstGeom>
          <a:noFill/>
          <a:ln/>
        </p:spPr>
        <p:txBody>
          <a:bodyPr wrap="square" lIns="0" tIns="0" rIns="0" bIns="0" rtlCol="0" anchor="ctr"/>
          <a:lstStyle/>
          <a:p>
            <a:pPr algn="l" indent="0" marL="0">
              <a:buNone/>
            </a:pPr>
            <a:r>
              <a:rPr lang="en-US" sz="1900" b="1" dirty="0">
                <a:solidFill>
                  <a:srgbClr val="5EA87A"/>
                </a:solidFill>
                <a:latin typeface="Calibri" pitchFamily="34" charset="0"/>
                <a:ea typeface="Calibri" pitchFamily="34" charset="-122"/>
                <a:cs typeface="Calibri" pitchFamily="34" charset="-120"/>
              </a:rPr>
              <a:t>73.2%</a:t>
            </a:r>
            <a:endParaRPr lang="en-US" sz="1900" dirty="0"/>
          </a:p>
        </p:txBody>
      </p:sp>
      <p:sp>
        <p:nvSpPr>
          <p:cNvPr id="13" name="Text 11"/>
          <p:cNvSpPr/>
          <p:nvPr/>
        </p:nvSpPr>
        <p:spPr>
          <a:xfrm>
            <a:off x="4773168" y="1536192"/>
            <a:ext cx="1737360" cy="274320"/>
          </a:xfrm>
          <a:prstGeom prst="rect">
            <a:avLst/>
          </a:prstGeom>
          <a:noFill/>
          <a:ln/>
        </p:spPr>
        <p:txBody>
          <a:bodyPr wrap="square" lIns="0" tIns="0" rIns="0" bIns="0" rtlCol="0" anchor="ctr"/>
          <a:lstStyle/>
          <a:p>
            <a:pPr algn="l" indent="0" marL="0">
              <a:buNone/>
            </a:pPr>
            <a:r>
              <a:rPr lang="en-US" sz="800" dirty="0">
                <a:solidFill>
                  <a:srgbClr val="636363"/>
                </a:solidFill>
                <a:latin typeface="Calibri" pitchFamily="34" charset="0"/>
                <a:ea typeface="Calibri" pitchFamily="34" charset="-122"/>
                <a:cs typeface="Calibri" pitchFamily="34" charset="-120"/>
              </a:rPr>
              <a:t>ESG Overall Score (5 suppliers)</a:t>
            </a:r>
            <a:endParaRPr lang="en-US" sz="800" dirty="0"/>
          </a:p>
        </p:txBody>
      </p:sp>
      <p:sp>
        <p:nvSpPr>
          <p:cNvPr id="14" name="Shape 12"/>
          <p:cNvSpPr/>
          <p:nvPr/>
        </p:nvSpPr>
        <p:spPr>
          <a:xfrm>
            <a:off x="6766560" y="1078992"/>
            <a:ext cx="1920240" cy="804672"/>
          </a:xfrm>
          <a:prstGeom prst="roundRect">
            <a:avLst>
              <a:gd name="adj" fmla="val 6818"/>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5" name="Text 13"/>
          <p:cNvSpPr/>
          <p:nvPr/>
        </p:nvSpPr>
        <p:spPr>
          <a:xfrm>
            <a:off x="6876288" y="1133856"/>
            <a:ext cx="1737360" cy="402336"/>
          </a:xfrm>
          <a:prstGeom prst="rect">
            <a:avLst/>
          </a:prstGeom>
          <a:noFill/>
          <a:ln/>
        </p:spPr>
        <p:txBody>
          <a:bodyPr wrap="square" lIns="0" tIns="0" rIns="0" bIns="0" rtlCol="0" anchor="ctr"/>
          <a:lstStyle/>
          <a:p>
            <a:pPr algn="l" indent="0" marL="0">
              <a:buNone/>
            </a:pPr>
            <a:r>
              <a:rPr lang="en-US" sz="1900" b="1" dirty="0">
                <a:solidFill>
                  <a:srgbClr val="C05050"/>
                </a:solidFill>
                <a:latin typeface="Calibri" pitchFamily="34" charset="0"/>
                <a:ea typeface="Calibri" pitchFamily="34" charset="-122"/>
                <a:cs typeface="Calibri" pitchFamily="34" charset="-120"/>
              </a:rPr>
              <a:t>3,931.6</a:t>
            </a:r>
            <a:endParaRPr lang="en-US" sz="1900" dirty="0"/>
          </a:p>
        </p:txBody>
      </p:sp>
      <p:sp>
        <p:nvSpPr>
          <p:cNvPr id="16" name="Text 14"/>
          <p:cNvSpPr/>
          <p:nvPr/>
        </p:nvSpPr>
        <p:spPr>
          <a:xfrm>
            <a:off x="6876288" y="1536192"/>
            <a:ext cx="1737360" cy="274320"/>
          </a:xfrm>
          <a:prstGeom prst="rect">
            <a:avLst/>
          </a:prstGeom>
          <a:noFill/>
          <a:ln/>
        </p:spPr>
        <p:txBody>
          <a:bodyPr wrap="square" lIns="0" tIns="0" rIns="0" bIns="0" rtlCol="0" anchor="ctr"/>
          <a:lstStyle/>
          <a:p>
            <a:pPr algn="l" indent="0" marL="0">
              <a:buNone/>
            </a:pPr>
            <a:r>
              <a:rPr lang="en-US" sz="800" dirty="0">
                <a:solidFill>
                  <a:srgbClr val="636363"/>
                </a:solidFill>
                <a:latin typeface="Calibri" pitchFamily="34" charset="0"/>
                <a:ea typeface="Calibri" pitchFamily="34" charset="-122"/>
                <a:cs typeface="Calibri" pitchFamily="34" charset="-120"/>
              </a:rPr>
              <a:t>kg CO₂e — total attributed, within limit</a:t>
            </a:r>
            <a:endParaRPr lang="en-US" sz="800" dirty="0"/>
          </a:p>
        </p:txBody>
      </p:sp>
      <p:sp>
        <p:nvSpPr>
          <p:cNvPr id="17" name="Shape 15"/>
          <p:cNvSpPr/>
          <p:nvPr/>
        </p:nvSpPr>
        <p:spPr>
          <a:xfrm>
            <a:off x="457200" y="2029968"/>
            <a:ext cx="4114800" cy="1316736"/>
          </a:xfrm>
          <a:prstGeom prst="roundRect">
            <a:avLst>
              <a:gd name="adj" fmla="val 4167"/>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8" name="Text 16"/>
          <p:cNvSpPr/>
          <p:nvPr/>
        </p:nvSpPr>
        <p:spPr>
          <a:xfrm>
            <a:off x="640080" y="2121408"/>
            <a:ext cx="3749040" cy="256032"/>
          </a:xfrm>
          <a:prstGeom prst="rect">
            <a:avLst/>
          </a:prstGeom>
          <a:noFill/>
          <a:ln/>
        </p:spPr>
        <p:txBody>
          <a:bodyPr wrap="square" lIns="0" tIns="0" rIns="0" bIns="0" rtlCol="0" anchor="ctr"/>
          <a:lstStyle/>
          <a:p>
            <a:pPr algn="l" indent="0" marL="0">
              <a:buNone/>
            </a:pPr>
            <a:r>
              <a:rPr lang="en-US" sz="1100" b="1" dirty="0">
                <a:solidFill>
                  <a:srgbClr val="5EADA0"/>
                </a:solidFill>
                <a:latin typeface="Calibri" pitchFamily="34" charset="0"/>
                <a:ea typeface="Calibri" pitchFamily="34" charset="-122"/>
                <a:cs typeface="Calibri" pitchFamily="34" charset="-120"/>
              </a:rPr>
              <a:t>Operational</a:t>
            </a:r>
            <a:endParaRPr lang="en-US" sz="1100" dirty="0"/>
          </a:p>
        </p:txBody>
      </p:sp>
      <p:sp>
        <p:nvSpPr>
          <p:cNvPr id="19" name="Text 17"/>
          <p:cNvSpPr/>
          <p:nvPr/>
        </p:nvSpPr>
        <p:spPr>
          <a:xfrm>
            <a:off x="640080" y="2414016"/>
            <a:ext cx="3749040" cy="868680"/>
          </a:xfrm>
          <a:prstGeom prst="rect">
            <a:avLst/>
          </a:prstGeom>
          <a:noFill/>
          <a:ln/>
        </p:spPr>
        <p:txBody>
          <a:bodyPr wrap="square" lIns="0" tIns="0" rIns="0" bIns="0" rtlCol="0" anchor="ctr"/>
          <a:lstStyle/>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Ops teams see next-month emissions forecast before the month starts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Violation detection at individual case level — not company-wide estimates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Bottleneck wait times and rework rates from actual event data</a:t>
            </a:r>
            <a:endParaRPr lang="en-US" sz="850" dirty="0"/>
          </a:p>
        </p:txBody>
      </p:sp>
      <p:sp>
        <p:nvSpPr>
          <p:cNvPr id="20" name="Shape 18"/>
          <p:cNvSpPr/>
          <p:nvPr/>
        </p:nvSpPr>
        <p:spPr>
          <a:xfrm>
            <a:off x="4800600" y="2029968"/>
            <a:ext cx="4114800" cy="1316736"/>
          </a:xfrm>
          <a:prstGeom prst="roundRect">
            <a:avLst>
              <a:gd name="adj" fmla="val 4167"/>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1" name="Text 19"/>
          <p:cNvSpPr/>
          <p:nvPr/>
        </p:nvSpPr>
        <p:spPr>
          <a:xfrm>
            <a:off x="4983480" y="2121408"/>
            <a:ext cx="3749040" cy="256032"/>
          </a:xfrm>
          <a:prstGeom prst="rect">
            <a:avLst/>
          </a:prstGeom>
          <a:noFill/>
          <a:ln/>
        </p:spPr>
        <p:txBody>
          <a:bodyPr wrap="square" lIns="0" tIns="0" rIns="0" bIns="0" rtlCol="0" anchor="ctr"/>
          <a:lstStyle/>
          <a:p>
            <a:pPr algn="l" indent="0" marL="0">
              <a:buNone/>
            </a:pPr>
            <a:r>
              <a:rPr lang="en-US" sz="1100" b="1" dirty="0">
                <a:solidFill>
                  <a:srgbClr val="5EA87A"/>
                </a:solidFill>
                <a:latin typeface="Calibri" pitchFamily="34" charset="0"/>
                <a:ea typeface="Calibri" pitchFamily="34" charset="-122"/>
                <a:cs typeface="Calibri" pitchFamily="34" charset="-120"/>
              </a:rPr>
              <a:t>Regulatory Compliance</a:t>
            </a:r>
            <a:endParaRPr lang="en-US" sz="1100" dirty="0"/>
          </a:p>
        </p:txBody>
      </p:sp>
      <p:sp>
        <p:nvSpPr>
          <p:cNvPr id="22" name="Text 20"/>
          <p:cNvSpPr/>
          <p:nvPr/>
        </p:nvSpPr>
        <p:spPr>
          <a:xfrm>
            <a:off x="4983480" y="2414016"/>
            <a:ext cx="3749040" cy="868680"/>
          </a:xfrm>
          <a:prstGeom prst="rect">
            <a:avLst/>
          </a:prstGeom>
          <a:noFill/>
          <a:ln/>
        </p:spPr>
        <p:txBody>
          <a:bodyPr wrap="square" lIns="0" tIns="0" rIns="0" bIns="0" rtlCol="0" anchor="ctr"/>
          <a:lstStyle/>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BRSR Sections A–D auto-generated from uploaded event log</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SHA-256 report hash — tamper-evident, audit-ready trail</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Mandatory for top 1000 NSE/BSE companies from FY2023</a:t>
            </a:r>
            <a:endParaRPr lang="en-US" sz="850" dirty="0"/>
          </a:p>
        </p:txBody>
      </p:sp>
      <p:sp>
        <p:nvSpPr>
          <p:cNvPr id="23" name="Shape 21"/>
          <p:cNvSpPr/>
          <p:nvPr/>
        </p:nvSpPr>
        <p:spPr>
          <a:xfrm>
            <a:off x="457200" y="3493008"/>
            <a:ext cx="4114800" cy="1316736"/>
          </a:xfrm>
          <a:prstGeom prst="roundRect">
            <a:avLst>
              <a:gd name="adj" fmla="val 4167"/>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4" name="Text 22"/>
          <p:cNvSpPr/>
          <p:nvPr/>
        </p:nvSpPr>
        <p:spPr>
          <a:xfrm>
            <a:off x="640080" y="3584448"/>
            <a:ext cx="3749040" cy="256032"/>
          </a:xfrm>
          <a:prstGeom prst="rect">
            <a:avLst/>
          </a:prstGeom>
          <a:noFill/>
          <a:ln/>
        </p:spPr>
        <p:txBody>
          <a:bodyPr wrap="square" lIns="0" tIns="0" rIns="0" bIns="0" rtlCol="0" anchor="ctr"/>
          <a:lstStyle/>
          <a:p>
            <a:pPr algn="l" indent="0" marL="0">
              <a:buNone/>
            </a:pPr>
            <a:r>
              <a:rPr lang="en-US" sz="1100" b="1" dirty="0">
                <a:solidFill>
                  <a:srgbClr val="B89040"/>
                </a:solidFill>
                <a:latin typeface="Calibri" pitchFamily="34" charset="0"/>
                <a:ea typeface="Calibri" pitchFamily="34" charset="-122"/>
                <a:cs typeface="Calibri" pitchFamily="34" charset="-120"/>
              </a:rPr>
              <a:t>Financial</a:t>
            </a:r>
            <a:endParaRPr lang="en-US" sz="1100" dirty="0"/>
          </a:p>
        </p:txBody>
      </p:sp>
      <p:sp>
        <p:nvSpPr>
          <p:cNvPr id="25" name="Text 23"/>
          <p:cNvSpPr/>
          <p:nvPr/>
        </p:nvSpPr>
        <p:spPr>
          <a:xfrm>
            <a:off x="640080" y="3877056"/>
            <a:ext cx="3749040" cy="868680"/>
          </a:xfrm>
          <a:prstGeom prst="rect">
            <a:avLst/>
          </a:prstGeom>
          <a:noFill/>
          <a:ln/>
        </p:spPr>
        <p:txBody>
          <a:bodyPr wrap="square" lIns="0" tIns="0" rIns="0" bIns="0" rtlCol="0" anchor="ctr"/>
          <a:lstStyle/>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Air Freight → Rail: 85% carbon delta reduction per violation case</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Supplier fitness scores enable data-driven procurement decisions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Zero consultant cost to generate a process conformance audit</a:t>
            </a:r>
            <a:endParaRPr lang="en-US" sz="850" dirty="0"/>
          </a:p>
        </p:txBody>
      </p:sp>
      <p:sp>
        <p:nvSpPr>
          <p:cNvPr id="26" name="Shape 24"/>
          <p:cNvSpPr/>
          <p:nvPr/>
        </p:nvSpPr>
        <p:spPr>
          <a:xfrm>
            <a:off x="4800600" y="3493008"/>
            <a:ext cx="4114800" cy="1316736"/>
          </a:xfrm>
          <a:prstGeom prst="roundRect">
            <a:avLst>
              <a:gd name="adj" fmla="val 4167"/>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7" name="Text 25"/>
          <p:cNvSpPr/>
          <p:nvPr/>
        </p:nvSpPr>
        <p:spPr>
          <a:xfrm>
            <a:off x="4983480" y="3584448"/>
            <a:ext cx="3749040" cy="256032"/>
          </a:xfrm>
          <a:prstGeom prst="rect">
            <a:avLst/>
          </a:prstGeom>
          <a:noFill/>
          <a:ln/>
        </p:spPr>
        <p:txBody>
          <a:bodyPr wrap="square" lIns="0" tIns="0" rIns="0" bIns="0" rtlCol="0" anchor="ctr"/>
          <a:lstStyle/>
          <a:p>
            <a:pPr algn="l" indent="0" marL="0">
              <a:buNone/>
            </a:pPr>
            <a:r>
              <a:rPr lang="en-US" sz="1100" b="1" dirty="0">
                <a:solidFill>
                  <a:srgbClr val="636363"/>
                </a:solidFill>
                <a:latin typeface="Calibri" pitchFamily="34" charset="0"/>
                <a:ea typeface="Calibri" pitchFamily="34" charset="-122"/>
                <a:cs typeface="Calibri" pitchFamily="34" charset="-120"/>
              </a:rPr>
              <a:t>Strategic</a:t>
            </a:r>
            <a:endParaRPr lang="en-US" sz="1100" dirty="0"/>
          </a:p>
        </p:txBody>
      </p:sp>
      <p:sp>
        <p:nvSpPr>
          <p:cNvPr id="28" name="Text 26"/>
          <p:cNvSpPr/>
          <p:nvPr/>
        </p:nvSpPr>
        <p:spPr>
          <a:xfrm>
            <a:off x="4983480" y="3877056"/>
            <a:ext cx="3749040" cy="868680"/>
          </a:xfrm>
          <a:prstGeom prst="rect">
            <a:avLst/>
          </a:prstGeom>
          <a:noFill/>
          <a:ln/>
        </p:spPr>
        <p:txBody>
          <a:bodyPr wrap="square" lIns="0" tIns="0" rIns="0" bIns="0" rtlCol="0" anchor="ctr"/>
          <a:lstStyle/>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Customer-configurable emission factors — not hardcoded defaults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Upload custom compliance rulesets via CSV override</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Multi-tenant: Org → Project → Workspace — scales to enterprise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237744"/>
            <a:ext cx="6400800" cy="182880"/>
          </a:xfrm>
          <a:prstGeom prst="rect">
            <a:avLst/>
          </a:prstGeom>
          <a:noFill/>
          <a:ln/>
        </p:spPr>
        <p:txBody>
          <a:bodyPr wrap="square" lIns="0" tIns="0" rIns="0" bIns="0" rtlCol="0" anchor="ctr"/>
          <a:lstStyle/>
          <a:p>
            <a:pPr algn="l" indent="0" marL="0">
              <a:buNone/>
            </a:pPr>
            <a:r>
              <a:rPr lang="en-US" sz="750" spc="200" kern="0" dirty="0">
                <a:solidFill>
                  <a:srgbClr val="5EADA0"/>
                </a:solidFill>
                <a:latin typeface="Courier New" pitchFamily="34" charset="0"/>
                <a:ea typeface="Courier New" pitchFamily="34" charset="-122"/>
                <a:cs typeface="Courier New" pitchFamily="34" charset="-120"/>
              </a:rPr>
              <a:t>07  /  FUTURE SCOPE</a:t>
            </a:r>
            <a:endParaRPr lang="en-US" sz="750" dirty="0"/>
          </a:p>
        </p:txBody>
      </p:sp>
      <p:sp>
        <p:nvSpPr>
          <p:cNvPr id="3" name="Text 1"/>
          <p:cNvSpPr/>
          <p:nvPr/>
        </p:nvSpPr>
        <p:spPr>
          <a:xfrm>
            <a:off x="457200" y="438912"/>
            <a:ext cx="8229600" cy="475488"/>
          </a:xfrm>
          <a:prstGeom prst="rect">
            <a:avLst/>
          </a:prstGeom>
          <a:noFill/>
          <a:ln/>
        </p:spPr>
        <p:txBody>
          <a:bodyPr wrap="square" lIns="0" tIns="0" rIns="0" bIns="0" rtlCol="0" anchor="ctr"/>
          <a:lstStyle/>
          <a:p>
            <a:pPr algn="l" indent="0" marL="0">
              <a:buNone/>
            </a:pPr>
            <a:r>
              <a:rPr lang="en-US" sz="2400" b="1" dirty="0">
                <a:solidFill>
                  <a:srgbClr val="E8E8E8"/>
                </a:solidFill>
                <a:latin typeface="Calibri" pitchFamily="34" charset="0"/>
                <a:ea typeface="Calibri" pitchFamily="34" charset="-122"/>
                <a:cs typeface="Calibri" pitchFamily="34" charset="-120"/>
              </a:rPr>
              <a:t>Roadmap — Natural Extensions, Not Pivots.</a:t>
            </a:r>
            <a:endParaRPr lang="en-US" sz="2400" dirty="0"/>
          </a:p>
        </p:txBody>
      </p:sp>
      <p:sp>
        <p:nvSpPr>
          <p:cNvPr id="4" name="Shape 2"/>
          <p:cNvSpPr/>
          <p:nvPr/>
        </p:nvSpPr>
        <p:spPr>
          <a:xfrm>
            <a:off x="457200" y="969264"/>
            <a:ext cx="8229600" cy="0"/>
          </a:xfrm>
          <a:prstGeom prst="line">
            <a:avLst/>
          </a:prstGeom>
          <a:noFill/>
          <a:ln w="6350">
            <a:solidFill>
              <a:srgbClr val="2E2E2E"/>
            </a:solidFill>
            <a:prstDash val="solid"/>
          </a:ln>
        </p:spPr>
      </p:sp>
      <p:sp>
        <p:nvSpPr>
          <p:cNvPr id="5" name="Shape 3"/>
          <p:cNvSpPr/>
          <p:nvPr/>
        </p:nvSpPr>
        <p:spPr>
          <a:xfrm>
            <a:off x="384048" y="1115568"/>
            <a:ext cx="1965960" cy="3657600"/>
          </a:xfrm>
          <a:prstGeom prst="roundRect">
            <a:avLst>
              <a:gd name="adj" fmla="val 2791"/>
            </a:avLst>
          </a:prstGeom>
          <a:solidFill>
            <a:srgbClr val="121E1B"/>
          </a:solidFill>
          <a:ln w="6350">
            <a:solidFill>
              <a:srgbClr val="3D8A7A"/>
            </a:solidFill>
            <a:prstDash val="solid"/>
          </a:ln>
          <a:effectLst>
            <a:outerShdw sx="100000" sy="100000" kx="0" ky="0" algn="bl" rotWithShape="0" blurRad="101600" dist="25400" dir="2700000">
              <a:srgbClr val="000000">
                <a:alpha val="45000"/>
              </a:srgbClr>
            </a:outerShdw>
          </a:effectLst>
        </p:spPr>
      </p:sp>
      <p:sp>
        <p:nvSpPr>
          <p:cNvPr id="6" name="Text 4"/>
          <p:cNvSpPr/>
          <p:nvPr/>
        </p:nvSpPr>
        <p:spPr>
          <a:xfrm>
            <a:off x="530352" y="1216152"/>
            <a:ext cx="1719072" cy="182880"/>
          </a:xfrm>
          <a:prstGeom prst="rect">
            <a:avLst/>
          </a:prstGeom>
          <a:noFill/>
          <a:ln/>
        </p:spPr>
        <p:txBody>
          <a:bodyPr wrap="square" lIns="0" tIns="0" rIns="0" bIns="0" rtlCol="0" anchor="ctr"/>
          <a:lstStyle/>
          <a:p>
            <a:pPr algn="l" indent="0" marL="0">
              <a:buNone/>
            </a:pPr>
            <a:r>
              <a:rPr lang="en-US" sz="750" spc="150" kern="0" dirty="0">
                <a:solidFill>
                  <a:srgbClr val="5EADA0"/>
                </a:solidFill>
                <a:latin typeface="Courier New" pitchFamily="34" charset="0"/>
                <a:ea typeface="Courier New" pitchFamily="34" charset="-122"/>
                <a:cs typeface="Courier New" pitchFamily="34" charset="-120"/>
              </a:rPr>
              <a:t>NOW</a:t>
            </a:r>
            <a:endParaRPr lang="en-US" sz="750" dirty="0"/>
          </a:p>
        </p:txBody>
      </p:sp>
      <p:sp>
        <p:nvSpPr>
          <p:cNvPr id="7" name="Text 5"/>
          <p:cNvSpPr/>
          <p:nvPr/>
        </p:nvSpPr>
        <p:spPr>
          <a:xfrm>
            <a:off x="530352" y="1417320"/>
            <a:ext cx="1719072" cy="256032"/>
          </a:xfrm>
          <a:prstGeom prst="rect">
            <a:avLst/>
          </a:prstGeom>
          <a:noFill/>
          <a:ln/>
        </p:spPr>
        <p:txBody>
          <a:bodyPr wrap="square" lIns="0" tIns="0" rIns="0" bIns="0" rtlCol="0" anchor="ctr"/>
          <a:lstStyle/>
          <a:p>
            <a:pPr algn="l" indent="0" marL="0">
              <a:buNone/>
            </a:pPr>
            <a:r>
              <a:rPr lang="en-US" sz="1100" b="1" dirty="0">
                <a:solidFill>
                  <a:srgbClr val="E8E8E8"/>
                </a:solidFill>
                <a:latin typeface="Calibri" pitchFamily="34" charset="0"/>
                <a:ea typeface="Calibri" pitchFamily="34" charset="-122"/>
                <a:cs typeface="Calibri" pitchFamily="34" charset="-120"/>
              </a:rPr>
              <a:t>Working Prototype</a:t>
            </a:r>
            <a:endParaRPr lang="en-US" sz="1100" dirty="0"/>
          </a:p>
        </p:txBody>
      </p:sp>
      <p:sp>
        <p:nvSpPr>
          <p:cNvPr id="8" name="Text 6"/>
          <p:cNvSpPr/>
          <p:nvPr/>
        </p:nvSpPr>
        <p:spPr>
          <a:xfrm>
            <a:off x="530352" y="1691640"/>
            <a:ext cx="1719072" cy="182880"/>
          </a:xfrm>
          <a:prstGeom prst="rect">
            <a:avLst/>
          </a:prstGeom>
          <a:noFill/>
          <a:ln/>
        </p:spPr>
        <p:txBody>
          <a:bodyPr wrap="square" lIns="0" tIns="0" rIns="0" bIns="0" rtlCol="0" anchor="ctr"/>
          <a:lstStyle/>
          <a:p>
            <a:pPr algn="l" indent="0" marL="0">
              <a:buNone/>
            </a:pPr>
            <a:r>
              <a:rPr lang="en-US" sz="800" dirty="0">
                <a:solidFill>
                  <a:srgbClr val="636363"/>
                </a:solidFill>
                <a:latin typeface="Courier New" pitchFamily="34" charset="0"/>
                <a:ea typeface="Courier New" pitchFamily="34" charset="-122"/>
                <a:cs typeface="Courier New" pitchFamily="34" charset="-120"/>
              </a:rPr>
              <a:t>Round 2 — Submitted</a:t>
            </a:r>
            <a:endParaRPr lang="en-US" sz="800" dirty="0"/>
          </a:p>
        </p:txBody>
      </p:sp>
      <p:sp>
        <p:nvSpPr>
          <p:cNvPr id="9" name="Shape 7"/>
          <p:cNvSpPr/>
          <p:nvPr/>
        </p:nvSpPr>
        <p:spPr>
          <a:xfrm>
            <a:off x="530352" y="1920240"/>
            <a:ext cx="1645920" cy="0"/>
          </a:xfrm>
          <a:prstGeom prst="line">
            <a:avLst/>
          </a:prstGeom>
          <a:noFill/>
          <a:ln w="5080">
            <a:solidFill>
              <a:srgbClr val="2E2E2E"/>
            </a:solidFill>
            <a:prstDash val="solid"/>
          </a:ln>
        </p:spPr>
      </p:sp>
      <p:sp>
        <p:nvSpPr>
          <p:cNvPr id="10" name="Text 8"/>
          <p:cNvSpPr/>
          <p:nvPr/>
        </p:nvSpPr>
        <p:spPr>
          <a:xfrm>
            <a:off x="530352" y="2011680"/>
            <a:ext cx="1719072" cy="2606040"/>
          </a:xfrm>
          <a:prstGeom prst="rect">
            <a:avLst/>
          </a:prstGeom>
          <a:noFill/>
          <a:ln/>
        </p:spPr>
        <p:txBody>
          <a:bodyPr wrap="square" lIns="0" tIns="0" rIns="0" bIns="0" rtlCol="0" anchor="ctr"/>
          <a:lstStyle/>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14 live pages, zero mocked data</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8 analytical engines, 40/40 tests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BRSR + ESG reports with SHA-256 hash</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Local Ollama LLM copilot</a:t>
            </a:r>
            <a:endParaRPr lang="en-US" sz="850" dirty="0"/>
          </a:p>
        </p:txBody>
      </p:sp>
      <p:sp>
        <p:nvSpPr>
          <p:cNvPr id="11" name="Shape 9"/>
          <p:cNvSpPr/>
          <p:nvPr/>
        </p:nvSpPr>
        <p:spPr>
          <a:xfrm>
            <a:off x="2487168" y="1115568"/>
            <a:ext cx="1965960" cy="3657600"/>
          </a:xfrm>
          <a:prstGeom prst="roundRect">
            <a:avLst>
              <a:gd name="adj" fmla="val 2791"/>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2" name="Text 10"/>
          <p:cNvSpPr/>
          <p:nvPr/>
        </p:nvSpPr>
        <p:spPr>
          <a:xfrm>
            <a:off x="2633472" y="1216152"/>
            <a:ext cx="1719072" cy="182880"/>
          </a:xfrm>
          <a:prstGeom prst="rect">
            <a:avLst/>
          </a:prstGeom>
          <a:noFill/>
          <a:ln/>
        </p:spPr>
        <p:txBody>
          <a:bodyPr wrap="square" lIns="0" tIns="0" rIns="0" bIns="0" rtlCol="0" anchor="ctr"/>
          <a:lstStyle/>
          <a:p>
            <a:pPr algn="l" indent="0" marL="0">
              <a:buNone/>
            </a:pPr>
            <a:r>
              <a:rPr lang="en-US" sz="750" spc="150" kern="0" dirty="0">
                <a:solidFill>
                  <a:srgbClr val="5EA87A"/>
                </a:solidFill>
                <a:latin typeface="Courier New" pitchFamily="34" charset="0"/>
                <a:ea typeface="Courier New" pitchFamily="34" charset="-122"/>
                <a:cs typeface="Courier New" pitchFamily="34" charset="-120"/>
              </a:rPr>
              <a:t>PHASE 2</a:t>
            </a:r>
            <a:endParaRPr lang="en-US" sz="750" dirty="0"/>
          </a:p>
        </p:txBody>
      </p:sp>
      <p:sp>
        <p:nvSpPr>
          <p:cNvPr id="13" name="Text 11"/>
          <p:cNvSpPr/>
          <p:nvPr/>
        </p:nvSpPr>
        <p:spPr>
          <a:xfrm>
            <a:off x="2633472" y="1417320"/>
            <a:ext cx="1719072" cy="256032"/>
          </a:xfrm>
          <a:prstGeom prst="rect">
            <a:avLst/>
          </a:prstGeom>
          <a:noFill/>
          <a:ln/>
        </p:spPr>
        <p:txBody>
          <a:bodyPr wrap="square" lIns="0" tIns="0" rIns="0" bIns="0" rtlCol="0" anchor="ctr"/>
          <a:lstStyle/>
          <a:p>
            <a:pPr algn="l" indent="0" marL="0">
              <a:buNone/>
            </a:pPr>
            <a:r>
              <a:rPr lang="en-US" sz="1100" b="1" dirty="0">
                <a:solidFill>
                  <a:srgbClr val="E8E8E8"/>
                </a:solidFill>
                <a:latin typeface="Calibri" pitchFamily="34" charset="0"/>
                <a:ea typeface="Calibri" pitchFamily="34" charset="-122"/>
                <a:cs typeface="Calibri" pitchFamily="34" charset="-120"/>
              </a:rPr>
              <a:t>Production Hardening</a:t>
            </a:r>
            <a:endParaRPr lang="en-US" sz="1100" dirty="0"/>
          </a:p>
        </p:txBody>
      </p:sp>
      <p:sp>
        <p:nvSpPr>
          <p:cNvPr id="14" name="Text 12"/>
          <p:cNvSpPr/>
          <p:nvPr/>
        </p:nvSpPr>
        <p:spPr>
          <a:xfrm>
            <a:off x="2633472" y="1691640"/>
            <a:ext cx="1719072" cy="182880"/>
          </a:xfrm>
          <a:prstGeom prst="rect">
            <a:avLst/>
          </a:prstGeom>
          <a:noFill/>
          <a:ln/>
        </p:spPr>
        <p:txBody>
          <a:bodyPr wrap="square" lIns="0" tIns="0" rIns="0" bIns="0" rtlCol="0" anchor="ctr"/>
          <a:lstStyle/>
          <a:p>
            <a:pPr algn="l" indent="0" marL="0">
              <a:buNone/>
            </a:pPr>
            <a:r>
              <a:rPr lang="en-US" sz="800" dirty="0">
                <a:solidFill>
                  <a:srgbClr val="636363"/>
                </a:solidFill>
                <a:latin typeface="Courier New" pitchFamily="34" charset="0"/>
                <a:ea typeface="Courier New" pitchFamily="34" charset="-122"/>
                <a:cs typeface="Courier New" pitchFamily="34" charset="-120"/>
              </a:rPr>
              <a:t>Q3 2026</a:t>
            </a:r>
            <a:endParaRPr lang="en-US" sz="800" dirty="0"/>
          </a:p>
        </p:txBody>
      </p:sp>
      <p:sp>
        <p:nvSpPr>
          <p:cNvPr id="15" name="Shape 13"/>
          <p:cNvSpPr/>
          <p:nvPr/>
        </p:nvSpPr>
        <p:spPr>
          <a:xfrm>
            <a:off x="2633472" y="1920240"/>
            <a:ext cx="1645920" cy="0"/>
          </a:xfrm>
          <a:prstGeom prst="line">
            <a:avLst/>
          </a:prstGeom>
          <a:noFill/>
          <a:ln w="5080">
            <a:solidFill>
              <a:srgbClr val="2E2E2E"/>
            </a:solidFill>
            <a:prstDash val="solid"/>
          </a:ln>
        </p:spPr>
      </p:sp>
      <p:sp>
        <p:nvSpPr>
          <p:cNvPr id="16" name="Text 14"/>
          <p:cNvSpPr/>
          <p:nvPr/>
        </p:nvSpPr>
        <p:spPr>
          <a:xfrm>
            <a:off x="2633472" y="2011680"/>
            <a:ext cx="1719072" cy="2606040"/>
          </a:xfrm>
          <a:prstGeom prst="rect">
            <a:avLst/>
          </a:prstGeom>
          <a:noFill/>
          <a:ln/>
        </p:spPr>
        <p:txBody>
          <a:bodyPr wrap="square" lIns="0" tIns="0" rIns="0" bIns="0" rtlCol="0" anchor="ctr"/>
          <a:lstStyle/>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PostgreSQL migration (SQLite → Postgres)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JWT authentication + role enforcement</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Docker containerisation + CI/CD pipeline</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REST API versioning (v1 → v2)</a:t>
            </a:r>
            <a:endParaRPr lang="en-US" sz="850" dirty="0"/>
          </a:p>
        </p:txBody>
      </p:sp>
      <p:sp>
        <p:nvSpPr>
          <p:cNvPr id="17" name="Shape 15"/>
          <p:cNvSpPr/>
          <p:nvPr/>
        </p:nvSpPr>
        <p:spPr>
          <a:xfrm>
            <a:off x="4590288" y="1115568"/>
            <a:ext cx="1965960" cy="3657600"/>
          </a:xfrm>
          <a:prstGeom prst="roundRect">
            <a:avLst>
              <a:gd name="adj" fmla="val 2791"/>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8" name="Text 16"/>
          <p:cNvSpPr/>
          <p:nvPr/>
        </p:nvSpPr>
        <p:spPr>
          <a:xfrm>
            <a:off x="4736592" y="1216152"/>
            <a:ext cx="1719072" cy="182880"/>
          </a:xfrm>
          <a:prstGeom prst="rect">
            <a:avLst/>
          </a:prstGeom>
          <a:noFill/>
          <a:ln/>
        </p:spPr>
        <p:txBody>
          <a:bodyPr wrap="square" lIns="0" tIns="0" rIns="0" bIns="0" rtlCol="0" anchor="ctr"/>
          <a:lstStyle/>
          <a:p>
            <a:pPr algn="l" indent="0" marL="0">
              <a:buNone/>
            </a:pPr>
            <a:r>
              <a:rPr lang="en-US" sz="750" spc="150" kern="0" dirty="0">
                <a:solidFill>
                  <a:srgbClr val="B89040"/>
                </a:solidFill>
                <a:latin typeface="Courier New" pitchFamily="34" charset="0"/>
                <a:ea typeface="Courier New" pitchFamily="34" charset="-122"/>
                <a:cs typeface="Courier New" pitchFamily="34" charset="-120"/>
              </a:rPr>
              <a:t>PHASE 3</a:t>
            </a:r>
            <a:endParaRPr lang="en-US" sz="750" dirty="0"/>
          </a:p>
        </p:txBody>
      </p:sp>
      <p:sp>
        <p:nvSpPr>
          <p:cNvPr id="19" name="Text 17"/>
          <p:cNvSpPr/>
          <p:nvPr/>
        </p:nvSpPr>
        <p:spPr>
          <a:xfrm>
            <a:off x="4736592" y="1417320"/>
            <a:ext cx="1719072" cy="256032"/>
          </a:xfrm>
          <a:prstGeom prst="rect">
            <a:avLst/>
          </a:prstGeom>
          <a:noFill/>
          <a:ln/>
        </p:spPr>
        <p:txBody>
          <a:bodyPr wrap="square" lIns="0" tIns="0" rIns="0" bIns="0" rtlCol="0" anchor="ctr"/>
          <a:lstStyle/>
          <a:p>
            <a:pPr algn="l" indent="0" marL="0">
              <a:buNone/>
            </a:pPr>
            <a:r>
              <a:rPr lang="en-US" sz="1100" b="1" dirty="0">
                <a:solidFill>
                  <a:srgbClr val="E8E8E8"/>
                </a:solidFill>
                <a:latin typeface="Calibri" pitchFamily="34" charset="0"/>
                <a:ea typeface="Calibri" pitchFamily="34" charset="-122"/>
                <a:cs typeface="Calibri" pitchFamily="34" charset="-120"/>
              </a:rPr>
              <a:t>ML Forecasting Upgrade</a:t>
            </a:r>
            <a:endParaRPr lang="en-US" sz="1100" dirty="0"/>
          </a:p>
        </p:txBody>
      </p:sp>
      <p:sp>
        <p:nvSpPr>
          <p:cNvPr id="20" name="Text 18"/>
          <p:cNvSpPr/>
          <p:nvPr/>
        </p:nvSpPr>
        <p:spPr>
          <a:xfrm>
            <a:off x="4736592" y="1691640"/>
            <a:ext cx="1719072" cy="182880"/>
          </a:xfrm>
          <a:prstGeom prst="rect">
            <a:avLst/>
          </a:prstGeom>
          <a:noFill/>
          <a:ln/>
        </p:spPr>
        <p:txBody>
          <a:bodyPr wrap="square" lIns="0" tIns="0" rIns="0" bIns="0" rtlCol="0" anchor="ctr"/>
          <a:lstStyle/>
          <a:p>
            <a:pPr algn="l" indent="0" marL="0">
              <a:buNone/>
            </a:pPr>
            <a:r>
              <a:rPr lang="en-US" sz="800" dirty="0">
                <a:solidFill>
                  <a:srgbClr val="636363"/>
                </a:solidFill>
                <a:latin typeface="Courier New" pitchFamily="34" charset="0"/>
                <a:ea typeface="Courier New" pitchFamily="34" charset="-122"/>
                <a:cs typeface="Courier New" pitchFamily="34" charset="-120"/>
              </a:rPr>
              <a:t>Q4 2026</a:t>
            </a:r>
            <a:endParaRPr lang="en-US" sz="800" dirty="0"/>
          </a:p>
        </p:txBody>
      </p:sp>
      <p:sp>
        <p:nvSpPr>
          <p:cNvPr id="21" name="Shape 19"/>
          <p:cNvSpPr/>
          <p:nvPr/>
        </p:nvSpPr>
        <p:spPr>
          <a:xfrm>
            <a:off x="4736592" y="1920240"/>
            <a:ext cx="1645920" cy="0"/>
          </a:xfrm>
          <a:prstGeom prst="line">
            <a:avLst/>
          </a:prstGeom>
          <a:noFill/>
          <a:ln w="5080">
            <a:solidFill>
              <a:srgbClr val="2E2E2E"/>
            </a:solidFill>
            <a:prstDash val="solid"/>
          </a:ln>
        </p:spPr>
      </p:sp>
      <p:sp>
        <p:nvSpPr>
          <p:cNvPr id="22" name="Text 20"/>
          <p:cNvSpPr/>
          <p:nvPr/>
        </p:nvSpPr>
        <p:spPr>
          <a:xfrm>
            <a:off x="4736592" y="2011680"/>
            <a:ext cx="1719072" cy="2606040"/>
          </a:xfrm>
          <a:prstGeom prst="rect">
            <a:avLst/>
          </a:prstGeom>
          <a:noFill/>
          <a:ln/>
        </p:spPr>
        <p:txBody>
          <a:bodyPr wrap="square" lIns="0" tIns="0" rIns="0" bIns="0" rtlCol="0" anchor="ctr"/>
          <a:lstStyle/>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ARIMA / Prophet as additional baselines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Anomaly detection on emissions spikes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Confidence interval bands on forecasts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Per-supplier individual forecasting models</a:t>
            </a:r>
            <a:endParaRPr lang="en-US" sz="850" dirty="0"/>
          </a:p>
        </p:txBody>
      </p:sp>
      <p:sp>
        <p:nvSpPr>
          <p:cNvPr id="23" name="Shape 21"/>
          <p:cNvSpPr/>
          <p:nvPr/>
        </p:nvSpPr>
        <p:spPr>
          <a:xfrm>
            <a:off x="6693408" y="1115568"/>
            <a:ext cx="1965960" cy="3657600"/>
          </a:xfrm>
          <a:prstGeom prst="roundRect">
            <a:avLst>
              <a:gd name="adj" fmla="val 2791"/>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4" name="Text 22"/>
          <p:cNvSpPr/>
          <p:nvPr/>
        </p:nvSpPr>
        <p:spPr>
          <a:xfrm>
            <a:off x="6839712" y="1216152"/>
            <a:ext cx="1719072" cy="182880"/>
          </a:xfrm>
          <a:prstGeom prst="rect">
            <a:avLst/>
          </a:prstGeom>
          <a:noFill/>
          <a:ln/>
        </p:spPr>
        <p:txBody>
          <a:bodyPr wrap="square" lIns="0" tIns="0" rIns="0" bIns="0" rtlCol="0" anchor="ctr"/>
          <a:lstStyle/>
          <a:p>
            <a:pPr algn="l" indent="0" marL="0">
              <a:buNone/>
            </a:pPr>
            <a:r>
              <a:rPr lang="en-US" sz="750" spc="150" kern="0" dirty="0">
                <a:solidFill>
                  <a:srgbClr val="636363"/>
                </a:solidFill>
                <a:latin typeface="Courier New" pitchFamily="34" charset="0"/>
                <a:ea typeface="Courier New" pitchFamily="34" charset="-122"/>
                <a:cs typeface="Courier New" pitchFamily="34" charset="-120"/>
              </a:rPr>
              <a:t>PHASE 4</a:t>
            </a:r>
            <a:endParaRPr lang="en-US" sz="750" dirty="0"/>
          </a:p>
        </p:txBody>
      </p:sp>
      <p:sp>
        <p:nvSpPr>
          <p:cNvPr id="25" name="Text 23"/>
          <p:cNvSpPr/>
          <p:nvPr/>
        </p:nvSpPr>
        <p:spPr>
          <a:xfrm>
            <a:off x="6839712" y="1417320"/>
            <a:ext cx="1719072" cy="256032"/>
          </a:xfrm>
          <a:prstGeom prst="rect">
            <a:avLst/>
          </a:prstGeom>
          <a:noFill/>
          <a:ln/>
        </p:spPr>
        <p:txBody>
          <a:bodyPr wrap="square" lIns="0" tIns="0" rIns="0" bIns="0" rtlCol="0" anchor="ctr"/>
          <a:lstStyle/>
          <a:p>
            <a:pPr algn="l" indent="0" marL="0">
              <a:buNone/>
            </a:pPr>
            <a:r>
              <a:rPr lang="en-US" sz="1100" b="1" dirty="0">
                <a:solidFill>
                  <a:srgbClr val="E8E8E8"/>
                </a:solidFill>
                <a:latin typeface="Calibri" pitchFamily="34" charset="0"/>
                <a:ea typeface="Calibri" pitchFamily="34" charset="-122"/>
                <a:cs typeface="Calibri" pitchFamily="34" charset="-120"/>
              </a:rPr>
              <a:t>Enterprise Integration</a:t>
            </a:r>
            <a:endParaRPr lang="en-US" sz="1100" dirty="0"/>
          </a:p>
        </p:txBody>
      </p:sp>
      <p:sp>
        <p:nvSpPr>
          <p:cNvPr id="26" name="Text 24"/>
          <p:cNvSpPr/>
          <p:nvPr/>
        </p:nvSpPr>
        <p:spPr>
          <a:xfrm>
            <a:off x="6839712" y="1691640"/>
            <a:ext cx="1719072" cy="182880"/>
          </a:xfrm>
          <a:prstGeom prst="rect">
            <a:avLst/>
          </a:prstGeom>
          <a:noFill/>
          <a:ln/>
        </p:spPr>
        <p:txBody>
          <a:bodyPr wrap="square" lIns="0" tIns="0" rIns="0" bIns="0" rtlCol="0" anchor="ctr"/>
          <a:lstStyle/>
          <a:p>
            <a:pPr algn="l" indent="0" marL="0">
              <a:buNone/>
            </a:pPr>
            <a:r>
              <a:rPr lang="en-US" sz="800" dirty="0">
                <a:solidFill>
                  <a:srgbClr val="636363"/>
                </a:solidFill>
                <a:latin typeface="Courier New" pitchFamily="34" charset="0"/>
                <a:ea typeface="Courier New" pitchFamily="34" charset="-122"/>
                <a:cs typeface="Courier New" pitchFamily="34" charset="-120"/>
              </a:rPr>
              <a:t>2027</a:t>
            </a:r>
            <a:endParaRPr lang="en-US" sz="800" dirty="0"/>
          </a:p>
        </p:txBody>
      </p:sp>
      <p:sp>
        <p:nvSpPr>
          <p:cNvPr id="27" name="Shape 25"/>
          <p:cNvSpPr/>
          <p:nvPr/>
        </p:nvSpPr>
        <p:spPr>
          <a:xfrm>
            <a:off x="6839712" y="1920240"/>
            <a:ext cx="1645920" cy="0"/>
          </a:xfrm>
          <a:prstGeom prst="line">
            <a:avLst/>
          </a:prstGeom>
          <a:noFill/>
          <a:ln w="5080">
            <a:solidFill>
              <a:srgbClr val="2E2E2E"/>
            </a:solidFill>
            <a:prstDash val="solid"/>
          </a:ln>
        </p:spPr>
      </p:sp>
      <p:sp>
        <p:nvSpPr>
          <p:cNvPr id="28" name="Text 26"/>
          <p:cNvSpPr/>
          <p:nvPr/>
        </p:nvSpPr>
        <p:spPr>
          <a:xfrm>
            <a:off x="6839712" y="2011680"/>
            <a:ext cx="1719072" cy="2606040"/>
          </a:xfrm>
          <a:prstGeom prst="rect">
            <a:avLst/>
          </a:prstGeom>
          <a:noFill/>
          <a:ln/>
        </p:spPr>
        <p:txBody>
          <a:bodyPr wrap="square" lIns="0" tIns="0" rIns="0" bIns="0" rtlCol="0" anchor="ctr"/>
          <a:lstStyle/>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SAP ERP connector — live event stream ingest</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GRI / CDP report standard support</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Real-time Kafka webhook triggers</a:t>
            </a:r>
            <a:endParaRPr lang="en-US" sz="850" dirty="0"/>
          </a:p>
          <a:p>
            <a:pPr marL="342900" indent="-342900">
              <a:buSzPct val="100000"/>
              <a:buChar char="•"/>
            </a:pPr>
            <a:r>
              <a:rPr lang="en-US" sz="850" dirty="0">
                <a:solidFill>
                  <a:srgbClr val="636363"/>
                </a:solidFill>
                <a:latin typeface="Calibri" pitchFamily="34" charset="0"/>
                <a:ea typeface="Calibri" pitchFamily="34" charset="-122"/>
                <a:cs typeface="Calibri" pitchFamily="34" charset="-120"/>
              </a:rPr>
              <a:t>Scope 1 &amp; 2 alongside existing Scope 3</a:t>
            </a:r>
            <a:endParaRPr lang="en-US" sz="850" dirty="0"/>
          </a:p>
        </p:txBody>
      </p:sp>
      <p:sp>
        <p:nvSpPr>
          <p:cNvPr id="29" name="Text 27"/>
          <p:cNvSpPr/>
          <p:nvPr/>
        </p:nvSpPr>
        <p:spPr>
          <a:xfrm>
            <a:off x="457200" y="4846320"/>
            <a:ext cx="8321040" cy="201168"/>
          </a:xfrm>
          <a:prstGeom prst="rect">
            <a:avLst/>
          </a:prstGeom>
          <a:noFill/>
          <a:ln/>
        </p:spPr>
        <p:txBody>
          <a:bodyPr wrap="square" lIns="0" tIns="0" rIns="0" bIns="0" rtlCol="0" anchor="ctr"/>
          <a:lstStyle/>
          <a:p>
            <a:pPr algn="ctr" indent="0" marL="0">
              <a:buNone/>
            </a:pPr>
            <a:r>
              <a:rPr lang="en-US" sz="900" i="1" dirty="0">
                <a:solidFill>
                  <a:srgbClr val="3A3A3A"/>
                </a:solidFill>
                <a:latin typeface="Calibri" pitchFamily="34" charset="0"/>
                <a:ea typeface="Calibri" pitchFamily="34" charset="-122"/>
                <a:cs typeface="Calibri" pitchFamily="34" charset="-120"/>
              </a:rPr>
              <a:t>Foundation is production-grade. Every phase is an extension, not a rebuild.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9"/>
        </a:solidFill>
      </p:bgPr>
    </p:bg>
    <p:spTree>
      <p:nvGrpSpPr>
        <p:cNvPr id="1" name=""/>
        <p:cNvGrpSpPr/>
        <p:nvPr/>
      </p:nvGrpSpPr>
      <p:grpSpPr>
        <a:xfrm>
          <a:off x="0" y="0"/>
          <a:ext cx="0" cy="0"/>
          <a:chOff x="0" y="0"/>
          <a:chExt cx="0" cy="0"/>
        </a:xfrm>
      </p:grpSpPr>
      <p:sp>
        <p:nvSpPr>
          <p:cNvPr id="2" name="Shape 0"/>
          <p:cNvSpPr/>
          <p:nvPr/>
        </p:nvSpPr>
        <p:spPr>
          <a:xfrm>
            <a:off x="0" y="0"/>
            <a:ext cx="5029200" cy="5143500"/>
          </a:xfrm>
          <a:prstGeom prst="rect">
            <a:avLst/>
          </a:prstGeom>
          <a:solidFill>
            <a:srgbClr val="0E0E0E"/>
          </a:solidFill>
          <a:ln w="12700">
            <a:solidFill>
              <a:srgbClr val="000000"/>
            </a:solidFill>
            <a:prstDash val="solid"/>
          </a:ln>
        </p:spPr>
      </p:sp>
      <p:sp>
        <p:nvSpPr>
          <p:cNvPr id="3" name="Text 1"/>
          <p:cNvSpPr/>
          <p:nvPr/>
        </p:nvSpPr>
        <p:spPr>
          <a:xfrm>
            <a:off x="457200" y="502920"/>
            <a:ext cx="3657600" cy="475488"/>
          </a:xfrm>
          <a:prstGeom prst="rect">
            <a:avLst/>
          </a:prstGeom>
          <a:noFill/>
          <a:ln/>
        </p:spPr>
        <p:txBody>
          <a:bodyPr wrap="square" lIns="0" tIns="0" rIns="0" bIns="0" rtlCol="0" anchor="ctr"/>
          <a:lstStyle/>
          <a:p>
            <a:pPr algn="l" indent="0" marL="0">
              <a:buNone/>
            </a:pPr>
            <a:r>
              <a:rPr lang="en-US" sz="3000" b="1" dirty="0">
                <a:solidFill>
                  <a:srgbClr val="E8E8E8"/>
                </a:solidFill>
                <a:latin typeface="Courier New" pitchFamily="34" charset="0"/>
                <a:ea typeface="Courier New" pitchFamily="34" charset="-122"/>
                <a:cs typeface="Courier New" pitchFamily="34" charset="-120"/>
              </a:rPr>
              <a:t>TRACE.</a:t>
            </a:r>
            <a:endParaRPr lang="en-US" sz="3000" dirty="0"/>
          </a:p>
        </p:txBody>
      </p:sp>
      <p:sp>
        <p:nvSpPr>
          <p:cNvPr id="4" name="Text 2"/>
          <p:cNvSpPr/>
          <p:nvPr/>
        </p:nvSpPr>
        <p:spPr>
          <a:xfrm>
            <a:off x="457200" y="1024128"/>
            <a:ext cx="4572000" cy="237744"/>
          </a:xfrm>
          <a:prstGeom prst="rect">
            <a:avLst/>
          </a:prstGeom>
          <a:noFill/>
          <a:ln/>
        </p:spPr>
        <p:txBody>
          <a:bodyPr wrap="square" lIns="0" tIns="0" rIns="0" bIns="0" rtlCol="0" anchor="ctr"/>
          <a:lstStyle/>
          <a:p>
            <a:pPr algn="l" indent="0" marL="0">
              <a:buNone/>
            </a:pPr>
            <a:r>
              <a:rPr lang="en-US" sz="1100" i="1" dirty="0">
                <a:solidFill>
                  <a:srgbClr val="636363"/>
                </a:solidFill>
                <a:latin typeface="Calibri" pitchFamily="34" charset="0"/>
                <a:ea typeface="Calibri" pitchFamily="34" charset="-122"/>
                <a:cs typeface="Calibri" pitchFamily="34" charset="-120"/>
              </a:rPr>
              <a:t>Process &amp; Carbon Intelligence</a:t>
            </a:r>
            <a:endParaRPr lang="en-US" sz="1100" dirty="0"/>
          </a:p>
        </p:txBody>
      </p:sp>
      <p:sp>
        <p:nvSpPr>
          <p:cNvPr id="5" name="Shape 3"/>
          <p:cNvSpPr/>
          <p:nvPr/>
        </p:nvSpPr>
        <p:spPr>
          <a:xfrm>
            <a:off x="457200" y="1389888"/>
            <a:ext cx="3200400" cy="0"/>
          </a:xfrm>
          <a:prstGeom prst="line">
            <a:avLst/>
          </a:prstGeom>
          <a:noFill/>
          <a:ln w="10160">
            <a:solidFill>
              <a:srgbClr val="3D8A7A"/>
            </a:solidFill>
            <a:prstDash val="solid"/>
          </a:ln>
        </p:spPr>
      </p:sp>
      <p:sp>
        <p:nvSpPr>
          <p:cNvPr id="6" name="Text 4"/>
          <p:cNvSpPr/>
          <p:nvPr/>
        </p:nvSpPr>
        <p:spPr>
          <a:xfrm>
            <a:off x="457200" y="1536192"/>
            <a:ext cx="4389120" cy="329184"/>
          </a:xfrm>
          <a:prstGeom prst="rect">
            <a:avLst/>
          </a:prstGeom>
          <a:noFill/>
          <a:ln/>
        </p:spPr>
        <p:txBody>
          <a:bodyPr wrap="square" lIns="0" tIns="0" rIns="0" bIns="0" rtlCol="0" anchor="ctr"/>
          <a:lstStyle/>
          <a:p>
            <a:pPr algn="l" indent="0" marL="0">
              <a:buNone/>
            </a:pPr>
            <a:r>
              <a:rPr lang="en-US" sz="1300" b="1" dirty="0">
                <a:solidFill>
                  <a:srgbClr val="E8E8E8"/>
                </a:solidFill>
                <a:latin typeface="Calibri" pitchFamily="34" charset="0"/>
                <a:ea typeface="Calibri" pitchFamily="34" charset="-122"/>
                <a:cs typeface="Calibri" pitchFamily="34" charset="-120"/>
              </a:rPr>
              <a:t>Supply Chain Audits That Actually Compute.</a:t>
            </a:r>
            <a:endParaRPr lang="en-US" sz="1300" dirty="0"/>
          </a:p>
        </p:txBody>
      </p:sp>
      <p:sp>
        <p:nvSpPr>
          <p:cNvPr id="7" name="Text 5"/>
          <p:cNvSpPr/>
          <p:nvPr/>
        </p:nvSpPr>
        <p:spPr>
          <a:xfrm>
            <a:off x="457200" y="1956816"/>
            <a:ext cx="4389120" cy="658368"/>
          </a:xfrm>
          <a:prstGeom prst="rect">
            <a:avLst/>
          </a:prstGeom>
          <a:noFill/>
          <a:ln/>
        </p:spPr>
        <p:txBody>
          <a:bodyPr wrap="square" lIns="0" tIns="0" rIns="0" bIns="0" rtlCol="0" anchor="ctr"/>
          <a:lstStyle/>
          <a:p>
            <a:pPr algn="l" indent="0" marL="0">
              <a:buNone/>
            </a:pPr>
            <a:r>
              <a:rPr lang="en-US" sz="950" i="1" dirty="0">
                <a:solidFill>
                  <a:srgbClr val="636363"/>
                </a:solidFill>
                <a:latin typeface="Calibri" pitchFamily="34" charset="0"/>
                <a:ea typeface="Calibri" pitchFamily="34" charset="-122"/>
                <a:cs typeface="Calibri" pitchFamily="34" charset="-120"/>
              </a:rPr>
              <a:t>One CSV. One upload.</a:t>
            </a:r>
            <a:endParaRPr lang="en-US" sz="950" dirty="0"/>
          </a:p>
          <a:p>
            <a:pPr algn="l" indent="0" marL="0">
              <a:buNone/>
            </a:pPr>
            <a:r>
              <a:rPr lang="en-US" sz="950" i="1" dirty="0">
                <a:solidFill>
                  <a:srgbClr val="636363"/>
                </a:solidFill>
                <a:latin typeface="Calibri" pitchFamily="34" charset="0"/>
                <a:ea typeface="Calibri" pitchFamily="34" charset="-122"/>
                <a:cs typeface="Calibri" pitchFamily="34" charset="-120"/>
              </a:rPr>
              <a:t>BRSR report with SHA-256 integrity — generated automatically.</a:t>
            </a:r>
            <a:endParaRPr lang="en-US" sz="950" dirty="0"/>
          </a:p>
          <a:p>
            <a:pPr algn="l" indent="0" marL="0">
              <a:buNone/>
            </a:pPr>
            <a:r>
              <a:rPr lang="en-US" sz="950" i="1" dirty="0">
                <a:solidFill>
                  <a:srgbClr val="636363"/>
                </a:solidFill>
                <a:latin typeface="Calibri" pitchFamily="34" charset="0"/>
                <a:ea typeface="Calibri" pitchFamily="34" charset="-122"/>
                <a:cs typeface="Calibri" pitchFamily="34" charset="-120"/>
              </a:rPr>
              <a:t>No dummy data. No fake scores.</a:t>
            </a:r>
            <a:endParaRPr lang="en-US" sz="950" dirty="0"/>
          </a:p>
        </p:txBody>
      </p:sp>
      <p:sp>
        <p:nvSpPr>
          <p:cNvPr id="8" name="Shape 6"/>
          <p:cNvSpPr/>
          <p:nvPr/>
        </p:nvSpPr>
        <p:spPr>
          <a:xfrm>
            <a:off x="457200" y="2761488"/>
            <a:ext cx="4389120" cy="475488"/>
          </a:xfrm>
          <a:prstGeom prst="roundRect">
            <a:avLst>
              <a:gd name="adj" fmla="val 11538"/>
            </a:avLst>
          </a:prstGeom>
          <a:solidFill>
            <a:srgbClr val="1A1A1A"/>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9" name="Text 7"/>
          <p:cNvSpPr/>
          <p:nvPr/>
        </p:nvSpPr>
        <p:spPr>
          <a:xfrm>
            <a:off x="640080" y="2834640"/>
            <a:ext cx="4023360" cy="310896"/>
          </a:xfrm>
          <a:prstGeom prst="rect">
            <a:avLst/>
          </a:prstGeom>
          <a:noFill/>
          <a:ln/>
        </p:spPr>
        <p:txBody>
          <a:bodyPr wrap="square" lIns="0" tIns="0" rIns="0" bIns="0" rtlCol="0" anchor="ctr"/>
          <a:lstStyle/>
          <a:p>
            <a:pPr algn="l" indent="0" marL="0">
              <a:buNone/>
            </a:pPr>
            <a:r>
              <a:rPr lang="en-US" sz="1100" b="1" dirty="0">
                <a:solidFill>
                  <a:srgbClr val="5EADA0"/>
                </a:solidFill>
                <a:latin typeface="Courier New" pitchFamily="34" charset="0"/>
                <a:ea typeface="Courier New" pitchFamily="34" charset="-122"/>
                <a:cs typeface="Courier New" pitchFamily="34" charset="-120"/>
              </a:rPr>
              <a:t>github.com/bug1857/TRACE</a:t>
            </a:r>
            <a:endParaRPr lang="en-US" sz="1100" dirty="0"/>
          </a:p>
        </p:txBody>
      </p:sp>
      <p:sp>
        <p:nvSpPr>
          <p:cNvPr id="10" name="Text 8"/>
          <p:cNvSpPr/>
          <p:nvPr/>
        </p:nvSpPr>
        <p:spPr>
          <a:xfrm>
            <a:off x="475488" y="3328416"/>
            <a:ext cx="4389120" cy="201168"/>
          </a:xfrm>
          <a:prstGeom prst="rect">
            <a:avLst/>
          </a:prstGeom>
          <a:noFill/>
          <a:ln/>
        </p:spPr>
        <p:txBody>
          <a:bodyPr wrap="square" lIns="0" tIns="0" rIns="0" bIns="0" rtlCol="0" anchor="ctr"/>
          <a:lstStyle/>
          <a:p>
            <a:pPr algn="l" indent="0" marL="0">
              <a:buNone/>
            </a:pPr>
            <a:r>
              <a:rPr lang="en-US" sz="900" dirty="0">
                <a:solidFill>
                  <a:srgbClr val="636363"/>
                </a:solidFill>
                <a:latin typeface="Courier New" pitchFamily="34" charset="0"/>
                <a:ea typeface="Courier New" pitchFamily="34" charset="-122"/>
                <a:cs typeface="Courier New" pitchFamily="34" charset="-120"/>
              </a:rPr>
              <a:t>Frontend: trace-app.vercel.app</a:t>
            </a:r>
            <a:endParaRPr lang="en-US" sz="900" dirty="0"/>
          </a:p>
        </p:txBody>
      </p:sp>
      <p:sp>
        <p:nvSpPr>
          <p:cNvPr id="11" name="Text 9"/>
          <p:cNvSpPr/>
          <p:nvPr/>
        </p:nvSpPr>
        <p:spPr>
          <a:xfrm>
            <a:off x="475488" y="3529584"/>
            <a:ext cx="4389120" cy="201168"/>
          </a:xfrm>
          <a:prstGeom prst="rect">
            <a:avLst/>
          </a:prstGeom>
          <a:noFill/>
          <a:ln/>
        </p:spPr>
        <p:txBody>
          <a:bodyPr wrap="square" lIns="0" tIns="0" rIns="0" bIns="0" rtlCol="0" anchor="ctr"/>
          <a:lstStyle/>
          <a:p>
            <a:pPr algn="l" indent="0" marL="0">
              <a:buNone/>
            </a:pPr>
            <a:r>
              <a:rPr lang="en-US" sz="900" dirty="0">
                <a:solidFill>
                  <a:srgbClr val="636363"/>
                </a:solidFill>
                <a:latin typeface="Courier New" pitchFamily="34" charset="0"/>
                <a:ea typeface="Courier New" pitchFamily="34" charset="-122"/>
                <a:cs typeface="Courier New" pitchFamily="34" charset="-120"/>
              </a:rPr>
              <a:t>Backend: trace-backend.onrender.com</a:t>
            </a:r>
            <a:endParaRPr lang="en-US" sz="900" dirty="0"/>
          </a:p>
        </p:txBody>
      </p:sp>
      <p:sp>
        <p:nvSpPr>
          <p:cNvPr id="12" name="Text 10"/>
          <p:cNvSpPr/>
          <p:nvPr/>
        </p:nvSpPr>
        <p:spPr>
          <a:xfrm>
            <a:off x="457200" y="4251960"/>
            <a:ext cx="4389120" cy="201168"/>
          </a:xfrm>
          <a:prstGeom prst="rect">
            <a:avLst/>
          </a:prstGeom>
          <a:noFill/>
          <a:ln/>
        </p:spPr>
        <p:txBody>
          <a:bodyPr wrap="square" lIns="0" tIns="0" rIns="0" bIns="0" rtlCol="0" anchor="ctr"/>
          <a:lstStyle/>
          <a:p>
            <a:pPr algn="l" indent="0" marL="0">
              <a:buNone/>
            </a:pPr>
            <a:r>
              <a:rPr lang="en-US" sz="900" dirty="0">
                <a:solidFill>
                  <a:srgbClr val="C8C8C8"/>
                </a:solidFill>
                <a:latin typeface="Calibri" pitchFamily="34" charset="0"/>
                <a:ea typeface="Calibri" pitchFamily="34" charset="-122"/>
                <a:cs typeface="Calibri" pitchFamily="34" charset="-120"/>
              </a:rPr>
              <a:t>Rudra Pratap Singh  ·  Swastik Anurag Vyas  ·  Divayom Sengar</a:t>
            </a:r>
            <a:endParaRPr lang="en-US" sz="900" dirty="0"/>
          </a:p>
        </p:txBody>
      </p:sp>
      <p:sp>
        <p:nvSpPr>
          <p:cNvPr id="13" name="Text 11"/>
          <p:cNvSpPr/>
          <p:nvPr/>
        </p:nvSpPr>
        <p:spPr>
          <a:xfrm>
            <a:off x="457200" y="4480560"/>
            <a:ext cx="4572000" cy="182880"/>
          </a:xfrm>
          <a:prstGeom prst="rect">
            <a:avLst/>
          </a:prstGeom>
          <a:noFill/>
          <a:ln/>
        </p:spPr>
        <p:txBody>
          <a:bodyPr wrap="square" lIns="0" tIns="0" rIns="0" bIns="0" rtlCol="0" anchor="ctr"/>
          <a:lstStyle/>
          <a:p>
            <a:pPr algn="l" indent="0" marL="0">
              <a:buNone/>
            </a:pPr>
            <a:r>
              <a:rPr lang="en-US" sz="850" dirty="0">
                <a:solidFill>
                  <a:srgbClr val="636363"/>
                </a:solidFill>
                <a:latin typeface="Calibri" pitchFamily="34" charset="0"/>
                <a:ea typeface="Calibri" pitchFamily="34" charset="-122"/>
                <a:cs typeface="Calibri" pitchFamily="34" charset="-120"/>
              </a:rPr>
              <a:t>Round 2  ·  Indo-Swiss Joint Research Programme  ·  2026</a:t>
            </a:r>
            <a:endParaRPr lang="en-US" sz="850" dirty="0"/>
          </a:p>
        </p:txBody>
      </p:sp>
      <p:sp>
        <p:nvSpPr>
          <p:cNvPr id="14" name="Shape 12"/>
          <p:cNvSpPr/>
          <p:nvPr/>
        </p:nvSpPr>
        <p:spPr>
          <a:xfrm>
            <a:off x="5285232" y="411480"/>
            <a:ext cx="1719072" cy="1389888"/>
          </a:xfrm>
          <a:prstGeom prst="roundRect">
            <a:avLst>
              <a:gd name="adj" fmla="val 3947"/>
            </a:avLst>
          </a:prstGeom>
          <a:solidFill>
            <a:srgbClr val="222222"/>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5" name="Text 13"/>
          <p:cNvSpPr/>
          <p:nvPr/>
        </p:nvSpPr>
        <p:spPr>
          <a:xfrm>
            <a:off x="5376672" y="557784"/>
            <a:ext cx="1554480" cy="475488"/>
          </a:xfrm>
          <a:prstGeom prst="rect">
            <a:avLst/>
          </a:prstGeom>
          <a:noFill/>
          <a:ln/>
        </p:spPr>
        <p:txBody>
          <a:bodyPr wrap="square" lIns="0" tIns="0" rIns="0" bIns="0" rtlCol="0" anchor="ctr"/>
          <a:lstStyle/>
          <a:p>
            <a:pPr algn="ctr" indent="0" marL="0">
              <a:buNone/>
            </a:pPr>
            <a:r>
              <a:rPr lang="en-US" sz="2200" b="1" dirty="0">
                <a:solidFill>
                  <a:srgbClr val="5EADA0"/>
                </a:solidFill>
                <a:latin typeface="Calibri" pitchFamily="34" charset="0"/>
                <a:ea typeface="Calibri" pitchFamily="34" charset="-122"/>
                <a:cs typeface="Calibri" pitchFamily="34" charset="-120"/>
              </a:rPr>
              <a:t>14+</a:t>
            </a:r>
            <a:endParaRPr lang="en-US" sz="2200" dirty="0"/>
          </a:p>
        </p:txBody>
      </p:sp>
      <p:sp>
        <p:nvSpPr>
          <p:cNvPr id="16" name="Text 14"/>
          <p:cNvSpPr/>
          <p:nvPr/>
        </p:nvSpPr>
        <p:spPr>
          <a:xfrm>
            <a:off x="5358384" y="1106424"/>
            <a:ext cx="1591056" cy="438912"/>
          </a:xfrm>
          <a:prstGeom prst="rect">
            <a:avLst/>
          </a:prstGeom>
          <a:noFill/>
          <a:ln/>
        </p:spPr>
        <p:txBody>
          <a:bodyPr wrap="square" lIns="0" tIns="0" rIns="0" bIns="0" rtlCol="0" anchor="ctr"/>
          <a:lstStyle/>
          <a:p>
            <a:pPr algn="ctr" indent="0" marL="0">
              <a:buNone/>
            </a:pPr>
            <a:r>
              <a:rPr lang="en-US" sz="850" dirty="0">
                <a:solidFill>
                  <a:srgbClr val="636363"/>
                </a:solidFill>
                <a:latin typeface="Calibri" pitchFamily="34" charset="0"/>
                <a:ea typeface="Calibri" pitchFamily="34" charset="-122"/>
                <a:cs typeface="Calibri" pitchFamily="34" charset="-120"/>
              </a:rPr>
              <a:t>Live Pages</a:t>
            </a:r>
            <a:endParaRPr lang="en-US" sz="850" dirty="0"/>
          </a:p>
        </p:txBody>
      </p:sp>
      <p:sp>
        <p:nvSpPr>
          <p:cNvPr id="17" name="Shape 15"/>
          <p:cNvSpPr/>
          <p:nvPr/>
        </p:nvSpPr>
        <p:spPr>
          <a:xfrm>
            <a:off x="7159752" y="411480"/>
            <a:ext cx="1719072" cy="1389888"/>
          </a:xfrm>
          <a:prstGeom prst="roundRect">
            <a:avLst>
              <a:gd name="adj" fmla="val 3947"/>
            </a:avLst>
          </a:prstGeom>
          <a:solidFill>
            <a:srgbClr val="222222"/>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18" name="Text 16"/>
          <p:cNvSpPr/>
          <p:nvPr/>
        </p:nvSpPr>
        <p:spPr>
          <a:xfrm>
            <a:off x="7251192" y="557784"/>
            <a:ext cx="1554480" cy="475488"/>
          </a:xfrm>
          <a:prstGeom prst="rect">
            <a:avLst/>
          </a:prstGeom>
          <a:noFill/>
          <a:ln/>
        </p:spPr>
        <p:txBody>
          <a:bodyPr wrap="square" lIns="0" tIns="0" rIns="0" bIns="0" rtlCol="0" anchor="ctr"/>
          <a:lstStyle/>
          <a:p>
            <a:pPr algn="ctr" indent="0" marL="0">
              <a:buNone/>
            </a:pPr>
            <a:r>
              <a:rPr lang="en-US" sz="2200" b="1" dirty="0">
                <a:solidFill>
                  <a:srgbClr val="5EADA0"/>
                </a:solidFill>
                <a:latin typeface="Calibri" pitchFamily="34" charset="0"/>
                <a:ea typeface="Calibri" pitchFamily="34" charset="-122"/>
                <a:cs typeface="Calibri" pitchFamily="34" charset="-120"/>
              </a:rPr>
              <a:t>40/40</a:t>
            </a:r>
            <a:endParaRPr lang="en-US" sz="2200" dirty="0"/>
          </a:p>
        </p:txBody>
      </p:sp>
      <p:sp>
        <p:nvSpPr>
          <p:cNvPr id="19" name="Text 17"/>
          <p:cNvSpPr/>
          <p:nvPr/>
        </p:nvSpPr>
        <p:spPr>
          <a:xfrm>
            <a:off x="7232904" y="1106424"/>
            <a:ext cx="1591056" cy="438912"/>
          </a:xfrm>
          <a:prstGeom prst="rect">
            <a:avLst/>
          </a:prstGeom>
          <a:noFill/>
          <a:ln/>
        </p:spPr>
        <p:txBody>
          <a:bodyPr wrap="square" lIns="0" tIns="0" rIns="0" bIns="0" rtlCol="0" anchor="ctr"/>
          <a:lstStyle/>
          <a:p>
            <a:pPr algn="ctr" indent="0" marL="0">
              <a:buNone/>
            </a:pPr>
            <a:r>
              <a:rPr lang="en-US" sz="850" dirty="0">
                <a:solidFill>
                  <a:srgbClr val="636363"/>
                </a:solidFill>
                <a:latin typeface="Calibri" pitchFamily="34" charset="0"/>
                <a:ea typeface="Calibri" pitchFamily="34" charset="-122"/>
                <a:cs typeface="Calibri" pitchFamily="34" charset="-120"/>
              </a:rPr>
              <a:t>Tests Passing</a:t>
            </a:r>
            <a:endParaRPr lang="en-US" sz="850" dirty="0"/>
          </a:p>
        </p:txBody>
      </p:sp>
      <p:sp>
        <p:nvSpPr>
          <p:cNvPr id="20" name="Shape 18"/>
          <p:cNvSpPr/>
          <p:nvPr/>
        </p:nvSpPr>
        <p:spPr>
          <a:xfrm>
            <a:off x="5285232" y="1947672"/>
            <a:ext cx="1719072" cy="1389888"/>
          </a:xfrm>
          <a:prstGeom prst="roundRect">
            <a:avLst>
              <a:gd name="adj" fmla="val 3947"/>
            </a:avLst>
          </a:prstGeom>
          <a:solidFill>
            <a:srgbClr val="222222"/>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1" name="Text 19"/>
          <p:cNvSpPr/>
          <p:nvPr/>
        </p:nvSpPr>
        <p:spPr>
          <a:xfrm>
            <a:off x="5376672" y="2093976"/>
            <a:ext cx="1554480" cy="475488"/>
          </a:xfrm>
          <a:prstGeom prst="rect">
            <a:avLst/>
          </a:prstGeom>
          <a:noFill/>
          <a:ln/>
        </p:spPr>
        <p:txBody>
          <a:bodyPr wrap="square" lIns="0" tIns="0" rIns="0" bIns="0" rtlCol="0" anchor="ctr"/>
          <a:lstStyle/>
          <a:p>
            <a:pPr algn="ctr" indent="0" marL="0">
              <a:buNone/>
            </a:pPr>
            <a:r>
              <a:rPr lang="en-US" sz="2200" b="1" dirty="0">
                <a:solidFill>
                  <a:srgbClr val="5EADA0"/>
                </a:solidFill>
                <a:latin typeface="Calibri" pitchFamily="34" charset="0"/>
                <a:ea typeface="Calibri" pitchFamily="34" charset="-122"/>
                <a:cs typeface="Calibri" pitchFamily="34" charset="-120"/>
              </a:rPr>
              <a:t>368</a:t>
            </a:r>
            <a:endParaRPr lang="en-US" sz="2200" dirty="0"/>
          </a:p>
        </p:txBody>
      </p:sp>
      <p:sp>
        <p:nvSpPr>
          <p:cNvPr id="22" name="Text 20"/>
          <p:cNvSpPr/>
          <p:nvPr/>
        </p:nvSpPr>
        <p:spPr>
          <a:xfrm>
            <a:off x="5358384" y="2642616"/>
            <a:ext cx="1591056" cy="438912"/>
          </a:xfrm>
          <a:prstGeom prst="rect">
            <a:avLst/>
          </a:prstGeom>
          <a:noFill/>
          <a:ln/>
        </p:spPr>
        <p:txBody>
          <a:bodyPr wrap="square" lIns="0" tIns="0" rIns="0" bIns="0" rtlCol="0" anchor="ctr"/>
          <a:lstStyle/>
          <a:p>
            <a:pPr algn="ctr" indent="0" marL="0">
              <a:buNone/>
            </a:pPr>
            <a:r>
              <a:rPr lang="en-US" sz="850" dirty="0">
                <a:solidFill>
                  <a:srgbClr val="636363"/>
                </a:solidFill>
                <a:latin typeface="Calibri" pitchFamily="34" charset="0"/>
                <a:ea typeface="Calibri" pitchFamily="34" charset="-122"/>
                <a:cs typeface="Calibri" pitchFamily="34" charset="-120"/>
              </a:rPr>
              <a:t>Violations</a:t>
            </a:r>
            <a:endParaRPr lang="en-US" sz="850" dirty="0"/>
          </a:p>
        </p:txBody>
      </p:sp>
      <p:sp>
        <p:nvSpPr>
          <p:cNvPr id="23" name="Shape 21"/>
          <p:cNvSpPr/>
          <p:nvPr/>
        </p:nvSpPr>
        <p:spPr>
          <a:xfrm>
            <a:off x="7159752" y="1947672"/>
            <a:ext cx="1719072" cy="1389888"/>
          </a:xfrm>
          <a:prstGeom prst="roundRect">
            <a:avLst>
              <a:gd name="adj" fmla="val 3947"/>
            </a:avLst>
          </a:prstGeom>
          <a:solidFill>
            <a:srgbClr val="222222"/>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4" name="Text 22"/>
          <p:cNvSpPr/>
          <p:nvPr/>
        </p:nvSpPr>
        <p:spPr>
          <a:xfrm>
            <a:off x="7251192" y="2093976"/>
            <a:ext cx="1554480" cy="475488"/>
          </a:xfrm>
          <a:prstGeom prst="rect">
            <a:avLst/>
          </a:prstGeom>
          <a:noFill/>
          <a:ln/>
        </p:spPr>
        <p:txBody>
          <a:bodyPr wrap="square" lIns="0" tIns="0" rIns="0" bIns="0" rtlCol="0" anchor="ctr"/>
          <a:lstStyle/>
          <a:p>
            <a:pPr algn="ctr" indent="0" marL="0">
              <a:buNone/>
            </a:pPr>
            <a:r>
              <a:rPr lang="en-US" sz="2200" b="1" dirty="0">
                <a:solidFill>
                  <a:srgbClr val="5EADA0"/>
                </a:solidFill>
                <a:latin typeface="Calibri" pitchFamily="34" charset="0"/>
                <a:ea typeface="Calibri" pitchFamily="34" charset="-122"/>
                <a:cs typeface="Calibri" pitchFamily="34" charset="-120"/>
              </a:rPr>
              <a:t>4</a:t>
            </a:r>
            <a:endParaRPr lang="en-US" sz="2200" dirty="0"/>
          </a:p>
        </p:txBody>
      </p:sp>
      <p:sp>
        <p:nvSpPr>
          <p:cNvPr id="25" name="Text 23"/>
          <p:cNvSpPr/>
          <p:nvPr/>
        </p:nvSpPr>
        <p:spPr>
          <a:xfrm>
            <a:off x="7232904" y="2642616"/>
            <a:ext cx="1591056" cy="438912"/>
          </a:xfrm>
          <a:prstGeom prst="rect">
            <a:avLst/>
          </a:prstGeom>
          <a:noFill/>
          <a:ln/>
        </p:spPr>
        <p:txBody>
          <a:bodyPr wrap="square" lIns="0" tIns="0" rIns="0" bIns="0" rtlCol="0" anchor="ctr"/>
          <a:lstStyle/>
          <a:p>
            <a:pPr algn="ctr" indent="0" marL="0">
              <a:buNone/>
            </a:pPr>
            <a:r>
              <a:rPr lang="en-US" sz="850" dirty="0">
                <a:solidFill>
                  <a:srgbClr val="636363"/>
                </a:solidFill>
                <a:latin typeface="Calibri" pitchFamily="34" charset="0"/>
                <a:ea typeface="Calibri" pitchFamily="34" charset="-122"/>
                <a:cs typeface="Calibri" pitchFamily="34" charset="-120"/>
              </a:rPr>
              <a:t>Forecast Models</a:t>
            </a:r>
            <a:endParaRPr lang="en-US" sz="850" dirty="0"/>
          </a:p>
        </p:txBody>
      </p:sp>
      <p:sp>
        <p:nvSpPr>
          <p:cNvPr id="26" name="Shape 24"/>
          <p:cNvSpPr/>
          <p:nvPr/>
        </p:nvSpPr>
        <p:spPr>
          <a:xfrm>
            <a:off x="5285232" y="3483864"/>
            <a:ext cx="1719072" cy="1389888"/>
          </a:xfrm>
          <a:prstGeom prst="roundRect">
            <a:avLst>
              <a:gd name="adj" fmla="val 3947"/>
            </a:avLst>
          </a:prstGeom>
          <a:solidFill>
            <a:srgbClr val="222222"/>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27" name="Text 25"/>
          <p:cNvSpPr/>
          <p:nvPr/>
        </p:nvSpPr>
        <p:spPr>
          <a:xfrm>
            <a:off x="5376672" y="3630168"/>
            <a:ext cx="1554480" cy="475488"/>
          </a:xfrm>
          <a:prstGeom prst="rect">
            <a:avLst/>
          </a:prstGeom>
          <a:noFill/>
          <a:ln/>
        </p:spPr>
        <p:txBody>
          <a:bodyPr wrap="square" lIns="0" tIns="0" rIns="0" bIns="0" rtlCol="0" anchor="ctr"/>
          <a:lstStyle/>
          <a:p>
            <a:pPr algn="ctr" indent="0" marL="0">
              <a:buNone/>
            </a:pPr>
            <a:r>
              <a:rPr lang="en-US" sz="2200" b="1" dirty="0">
                <a:solidFill>
                  <a:srgbClr val="5EADA0"/>
                </a:solidFill>
                <a:latin typeface="Calibri" pitchFamily="34" charset="0"/>
                <a:ea typeface="Calibri" pitchFamily="34" charset="-122"/>
                <a:cs typeface="Calibri" pitchFamily="34" charset="-120"/>
              </a:rPr>
              <a:t>0</a:t>
            </a:r>
            <a:endParaRPr lang="en-US" sz="2200" dirty="0"/>
          </a:p>
        </p:txBody>
      </p:sp>
      <p:sp>
        <p:nvSpPr>
          <p:cNvPr id="28" name="Text 26"/>
          <p:cNvSpPr/>
          <p:nvPr/>
        </p:nvSpPr>
        <p:spPr>
          <a:xfrm>
            <a:off x="5358384" y="4178808"/>
            <a:ext cx="1591056" cy="438912"/>
          </a:xfrm>
          <a:prstGeom prst="rect">
            <a:avLst/>
          </a:prstGeom>
          <a:noFill/>
          <a:ln/>
        </p:spPr>
        <p:txBody>
          <a:bodyPr wrap="square" lIns="0" tIns="0" rIns="0" bIns="0" rtlCol="0" anchor="ctr"/>
          <a:lstStyle/>
          <a:p>
            <a:pPr algn="ctr" indent="0" marL="0">
              <a:buNone/>
            </a:pPr>
            <a:r>
              <a:rPr lang="en-US" sz="850" dirty="0">
                <a:solidFill>
                  <a:srgbClr val="636363"/>
                </a:solidFill>
                <a:latin typeface="Calibri" pitchFamily="34" charset="0"/>
                <a:ea typeface="Calibri" pitchFamily="34" charset="-122"/>
                <a:cs typeface="Calibri" pitchFamily="34" charset="-120"/>
              </a:rPr>
              <a:t>Dummy Numbers</a:t>
            </a:r>
            <a:endParaRPr lang="en-US" sz="850" dirty="0"/>
          </a:p>
        </p:txBody>
      </p:sp>
      <p:sp>
        <p:nvSpPr>
          <p:cNvPr id="29" name="Shape 27"/>
          <p:cNvSpPr/>
          <p:nvPr/>
        </p:nvSpPr>
        <p:spPr>
          <a:xfrm>
            <a:off x="7159752" y="3483864"/>
            <a:ext cx="1719072" cy="1389888"/>
          </a:xfrm>
          <a:prstGeom prst="roundRect">
            <a:avLst>
              <a:gd name="adj" fmla="val 3947"/>
            </a:avLst>
          </a:prstGeom>
          <a:solidFill>
            <a:srgbClr val="222222"/>
          </a:solidFill>
          <a:ln w="6350">
            <a:solidFill>
              <a:srgbClr val="2E2E2E"/>
            </a:solidFill>
            <a:prstDash val="solid"/>
          </a:ln>
          <a:effectLst>
            <a:outerShdw sx="100000" sy="100000" kx="0" ky="0" algn="bl" rotWithShape="0" blurRad="101600" dist="25400" dir="2700000">
              <a:srgbClr val="000000">
                <a:alpha val="45000"/>
              </a:srgbClr>
            </a:outerShdw>
          </a:effectLst>
        </p:spPr>
      </p:sp>
      <p:sp>
        <p:nvSpPr>
          <p:cNvPr id="30" name="Text 28"/>
          <p:cNvSpPr/>
          <p:nvPr/>
        </p:nvSpPr>
        <p:spPr>
          <a:xfrm>
            <a:off x="7251192" y="3630168"/>
            <a:ext cx="1554480" cy="475488"/>
          </a:xfrm>
          <a:prstGeom prst="rect">
            <a:avLst/>
          </a:prstGeom>
          <a:noFill/>
          <a:ln/>
        </p:spPr>
        <p:txBody>
          <a:bodyPr wrap="square" lIns="0" tIns="0" rIns="0" bIns="0" rtlCol="0" anchor="ctr"/>
          <a:lstStyle/>
          <a:p>
            <a:pPr algn="ctr" indent="0" marL="0">
              <a:buNone/>
            </a:pPr>
            <a:r>
              <a:rPr lang="en-US" sz="2200" b="1" dirty="0">
                <a:solidFill>
                  <a:srgbClr val="5EADA0"/>
                </a:solidFill>
                <a:latin typeface="Calibri" pitchFamily="34" charset="0"/>
                <a:ea typeface="Calibri" pitchFamily="34" charset="-122"/>
                <a:cs typeface="Calibri" pitchFamily="34" charset="-120"/>
              </a:rPr>
              <a:t>BRSR</a:t>
            </a:r>
            <a:endParaRPr lang="en-US" sz="2200" dirty="0"/>
          </a:p>
        </p:txBody>
      </p:sp>
      <p:sp>
        <p:nvSpPr>
          <p:cNvPr id="31" name="Text 29"/>
          <p:cNvSpPr/>
          <p:nvPr/>
        </p:nvSpPr>
        <p:spPr>
          <a:xfrm>
            <a:off x="7232904" y="4178808"/>
            <a:ext cx="1591056" cy="438912"/>
          </a:xfrm>
          <a:prstGeom prst="rect">
            <a:avLst/>
          </a:prstGeom>
          <a:noFill/>
          <a:ln/>
        </p:spPr>
        <p:txBody>
          <a:bodyPr wrap="square" lIns="0" tIns="0" rIns="0" bIns="0" rtlCol="0" anchor="ctr"/>
          <a:lstStyle/>
          <a:p>
            <a:pPr algn="ctr" indent="0" marL="0">
              <a:buNone/>
            </a:pPr>
            <a:r>
              <a:rPr lang="en-US" sz="850" dirty="0">
                <a:solidFill>
                  <a:srgbClr val="636363"/>
                </a:solidFill>
                <a:latin typeface="Calibri" pitchFamily="34" charset="0"/>
                <a:ea typeface="Calibri" pitchFamily="34" charset="-122"/>
                <a:cs typeface="Calibri" pitchFamily="34" charset="-120"/>
              </a:rPr>
              <a:t>Report Standard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MUJ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 — Enterprise Process Mining &amp; ESG Intelligence Platform</dc:title>
  <dc:subject>Indo-Swiss Joint Research Programme — Round 2</dc:subject>
  <dc:creator>Rudra Pratap Singh, Swastik Anurag Vyas, Divayom Sengar</dc:creator>
  <cp:lastModifiedBy>Rudra Pratap Singh, Swastik Anurag Vyas, Divayom Sengar</cp:lastModifiedBy>
  <cp:revision>1</cp:revision>
  <dcterms:created xsi:type="dcterms:W3CDTF">2026-06-27T03:40:25Z</dcterms:created>
  <dcterms:modified xsi:type="dcterms:W3CDTF">2026-06-27T03:40:25Z</dcterms:modified>
</cp:coreProperties>
</file>